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9" r:id="rId4"/>
    <p:sldId id="260" r:id="rId5"/>
    <p:sldId id="262" r:id="rId6"/>
    <p:sldId id="277" r:id="rId7"/>
    <p:sldId id="264" r:id="rId8"/>
    <p:sldId id="258" r:id="rId9"/>
    <p:sldId id="261" r:id="rId10"/>
    <p:sldId id="267" r:id="rId11"/>
    <p:sldId id="265" r:id="rId12"/>
    <p:sldId id="286" r:id="rId13"/>
    <p:sldId id="295" r:id="rId14"/>
    <p:sldId id="304" r:id="rId15"/>
    <p:sldId id="278" r:id="rId16"/>
    <p:sldId id="287" r:id="rId17"/>
    <p:sldId id="296" r:id="rId18"/>
    <p:sldId id="305" r:id="rId19"/>
    <p:sldId id="279" r:id="rId20"/>
    <p:sldId id="288" r:id="rId21"/>
    <p:sldId id="297" r:id="rId22"/>
    <p:sldId id="306" r:id="rId23"/>
    <p:sldId id="280" r:id="rId24"/>
    <p:sldId id="289" r:id="rId25"/>
    <p:sldId id="298" r:id="rId26"/>
    <p:sldId id="307" r:id="rId27"/>
    <p:sldId id="281" r:id="rId28"/>
    <p:sldId id="290" r:id="rId29"/>
    <p:sldId id="299" r:id="rId30"/>
    <p:sldId id="308" r:id="rId31"/>
    <p:sldId id="282" r:id="rId32"/>
    <p:sldId id="291" r:id="rId33"/>
    <p:sldId id="300" r:id="rId34"/>
    <p:sldId id="309" r:id="rId35"/>
    <p:sldId id="283" r:id="rId36"/>
    <p:sldId id="292" r:id="rId37"/>
    <p:sldId id="301" r:id="rId38"/>
    <p:sldId id="310" r:id="rId39"/>
    <p:sldId id="284" r:id="rId40"/>
    <p:sldId id="293" r:id="rId41"/>
    <p:sldId id="302" r:id="rId42"/>
    <p:sldId id="311" r:id="rId43"/>
    <p:sldId id="285" r:id="rId44"/>
    <p:sldId id="294" r:id="rId45"/>
    <p:sldId id="303" r:id="rId46"/>
    <p:sldId id="312" r:id="rId47"/>
    <p:sldId id="268" r:id="rId48"/>
    <p:sldId id="276" r:id="rId49"/>
  </p:sldIdLst>
  <p:sldSz cx="18288000" cy="10287000"/>
  <p:notesSz cx="6858000" cy="9144000"/>
  <p:embeddedFontLst>
    <p:embeddedFont>
      <p:font typeface="Cambria Math" panose="02040503050406030204" pitchFamily="18" charset="0"/>
      <p:regular r:id="rId51"/>
    </p:embeddedFont>
    <p:embeddedFont>
      <p:font typeface="Telegraf" panose="020B0604020202020204" charset="0"/>
      <p:regular r:id="rId52"/>
    </p:embeddedFont>
    <p:embeddedFont>
      <p:font typeface="Telegraf Bold" panose="020B0604020202020204" charset="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1636" autoAdjust="0"/>
  </p:normalViewPr>
  <p:slideViewPr>
    <p:cSldViewPr>
      <p:cViewPr varScale="1">
        <p:scale>
          <a:sx n="66" d="100"/>
          <a:sy n="66" d="100"/>
        </p:scale>
        <p:origin x="876" y="-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3ABB5-6D51-425A-BF8E-919C6CD09C1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93C73-9E07-4D28-90C5-3682F1821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0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93C73-9E07-4D28-90C5-3682F1821E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55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93C73-9E07-4D28-90C5-3682F1821E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24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93C73-9E07-4D28-90C5-3682F1821EB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99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93C73-9E07-4D28-90C5-3682F1821EB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9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25.svg"/><Relationship Id="rId4" Type="http://schemas.openxmlformats.org/officeDocument/2006/relationships/image" Target="../media/image22.sv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25.svg"/><Relationship Id="rId4" Type="http://schemas.openxmlformats.org/officeDocument/2006/relationships/image" Target="../media/image22.sv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4.svg"/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32.png"/><Relationship Id="rId5" Type="http://schemas.openxmlformats.org/officeDocument/2006/relationships/image" Target="../media/image10.png"/><Relationship Id="rId10" Type="http://schemas.openxmlformats.org/officeDocument/2006/relationships/image" Target="../media/image31.png"/><Relationship Id="rId4" Type="http://schemas.openxmlformats.org/officeDocument/2006/relationships/image" Target="../media/image22.sv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34.svg"/><Relationship Id="rId5" Type="http://schemas.openxmlformats.org/officeDocument/2006/relationships/image" Target="../media/image10.png"/><Relationship Id="rId10" Type="http://schemas.openxmlformats.org/officeDocument/2006/relationships/image" Target="../media/image33.png"/><Relationship Id="rId4" Type="http://schemas.openxmlformats.org/officeDocument/2006/relationships/image" Target="../media/image22.sv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2.svg"/><Relationship Id="rId7" Type="http://schemas.openxmlformats.org/officeDocument/2006/relationships/image" Target="../media/image3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41.svg"/><Relationship Id="rId5" Type="http://schemas.openxmlformats.org/officeDocument/2006/relationships/image" Target="../media/image10.png"/><Relationship Id="rId10" Type="http://schemas.openxmlformats.org/officeDocument/2006/relationships/image" Target="../media/image40.png"/><Relationship Id="rId4" Type="http://schemas.openxmlformats.org/officeDocument/2006/relationships/image" Target="../media/image1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42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43.sv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7.svg"/><Relationship Id="rId5" Type="http://schemas.openxmlformats.org/officeDocument/2006/relationships/image" Target="../media/image46.svg"/><Relationship Id="rId10" Type="http://schemas.openxmlformats.org/officeDocument/2006/relationships/image" Target="../media/image16.png"/><Relationship Id="rId4" Type="http://schemas.openxmlformats.org/officeDocument/2006/relationships/image" Target="../media/image45.png"/><Relationship Id="rId9" Type="http://schemas.openxmlformats.org/officeDocument/2006/relationships/image" Target="../media/image4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7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7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50.svg"/><Relationship Id="rId10" Type="http://schemas.openxmlformats.org/officeDocument/2006/relationships/image" Target="../media/image78.png"/><Relationship Id="rId4" Type="http://schemas.openxmlformats.org/officeDocument/2006/relationships/image" Target="../media/image49.png"/><Relationship Id="rId9" Type="http://schemas.openxmlformats.org/officeDocument/2006/relationships/image" Target="../media/image11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8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8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8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8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8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8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9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50.svg"/><Relationship Id="rId9" Type="http://schemas.openxmlformats.org/officeDocument/2006/relationships/image" Target="../media/image8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5" y="1315441"/>
            <a:ext cx="9009410" cy="6082798"/>
            <a:chOff x="0" y="0"/>
            <a:chExt cx="3286657" cy="221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86657" cy="2219021"/>
            </a:xfrm>
            <a:custGeom>
              <a:avLst/>
              <a:gdLst/>
              <a:ahLst/>
              <a:cxnLst/>
              <a:rect l="l" t="t" r="r" b="b"/>
              <a:pathLst>
                <a:path w="3286657" h="2219021">
                  <a:moveTo>
                    <a:pt x="0" y="0"/>
                  </a:moveTo>
                  <a:lnTo>
                    <a:pt x="3286657" y="0"/>
                  </a:lnTo>
                  <a:lnTo>
                    <a:pt x="3286657" y="2219021"/>
                  </a:lnTo>
                  <a:lnTo>
                    <a:pt x="0" y="221902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 flipH="1">
            <a:off x="-2156129" y="8872350"/>
            <a:ext cx="6662470" cy="1611106"/>
          </a:xfrm>
          <a:custGeom>
            <a:avLst/>
            <a:gdLst/>
            <a:ahLst/>
            <a:cxnLst/>
            <a:rect l="l" t="t" r="r" b="b"/>
            <a:pathLst>
              <a:path w="6662470" h="1611106">
                <a:moveTo>
                  <a:pt x="6662470" y="0"/>
                </a:moveTo>
                <a:lnTo>
                  <a:pt x="0" y="0"/>
                </a:lnTo>
                <a:lnTo>
                  <a:pt x="0" y="1611107"/>
                </a:lnTo>
                <a:lnTo>
                  <a:pt x="6662470" y="1611107"/>
                </a:lnTo>
                <a:lnTo>
                  <a:pt x="66624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791434" y="-196457"/>
            <a:ext cx="5652695" cy="1366924"/>
          </a:xfrm>
          <a:custGeom>
            <a:avLst/>
            <a:gdLst/>
            <a:ahLst/>
            <a:cxnLst/>
            <a:rect l="l" t="t" r="r" b="b"/>
            <a:pathLst>
              <a:path w="5652695" h="1366924">
                <a:moveTo>
                  <a:pt x="5652695" y="0"/>
                </a:moveTo>
                <a:lnTo>
                  <a:pt x="0" y="0"/>
                </a:lnTo>
                <a:lnTo>
                  <a:pt x="0" y="1366925"/>
                </a:lnTo>
                <a:lnTo>
                  <a:pt x="5652695" y="1366925"/>
                </a:lnTo>
                <a:lnTo>
                  <a:pt x="565269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61150" y="1315441"/>
            <a:ext cx="7087021" cy="7701883"/>
            <a:chOff x="0" y="0"/>
            <a:chExt cx="2585364" cy="28096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5364" cy="2809668"/>
            </a:xfrm>
            <a:custGeom>
              <a:avLst/>
              <a:gdLst/>
              <a:ahLst/>
              <a:cxnLst/>
              <a:rect l="l" t="t" r="r" b="b"/>
              <a:pathLst>
                <a:path w="2585364" h="2809668">
                  <a:moveTo>
                    <a:pt x="0" y="0"/>
                  </a:moveTo>
                  <a:lnTo>
                    <a:pt x="2585364" y="0"/>
                  </a:lnTo>
                  <a:lnTo>
                    <a:pt x="2585364" y="2809668"/>
                  </a:lnTo>
                  <a:lnTo>
                    <a:pt x="0" y="2809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765643" y="7732588"/>
            <a:ext cx="5149262" cy="1284736"/>
            <a:chOff x="0" y="0"/>
            <a:chExt cx="6865682" cy="171298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865682" cy="1712982"/>
              <a:chOff x="0" y="0"/>
              <a:chExt cx="1878465" cy="4686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878465" cy="468675"/>
              </a:xfrm>
              <a:custGeom>
                <a:avLst/>
                <a:gdLst/>
                <a:ahLst/>
                <a:cxnLst/>
                <a:rect l="l" t="t" r="r" b="b"/>
                <a:pathLst>
                  <a:path w="1878465" h="468675">
                    <a:moveTo>
                      <a:pt x="0" y="0"/>
                    </a:moveTo>
                    <a:lnTo>
                      <a:pt x="1878465" y="0"/>
                    </a:lnTo>
                    <a:lnTo>
                      <a:pt x="1878465" y="468675"/>
                    </a:lnTo>
                    <a:lnTo>
                      <a:pt x="0" y="46867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12" name="Freeform 12"/>
            <p:cNvSpPr/>
            <p:nvPr/>
          </p:nvSpPr>
          <p:spPr>
            <a:xfrm>
              <a:off x="408587" y="628766"/>
              <a:ext cx="450823" cy="450823"/>
            </a:xfrm>
            <a:custGeom>
              <a:avLst/>
              <a:gdLst/>
              <a:ahLst/>
              <a:cxnLst/>
              <a:rect l="l" t="t" r="r" b="b"/>
              <a:pathLst>
                <a:path w="450823" h="450823">
                  <a:moveTo>
                    <a:pt x="0" y="0"/>
                  </a:moveTo>
                  <a:lnTo>
                    <a:pt x="450822" y="0"/>
                  </a:lnTo>
                  <a:lnTo>
                    <a:pt x="450822" y="450823"/>
                  </a:lnTo>
                  <a:lnTo>
                    <a:pt x="0" y="450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6232" y="164629"/>
              <a:ext cx="5432627" cy="1462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Trần</a:t>
              </a:r>
              <a:r>
                <a:rPr lang="en-US" sz="21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1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Ngọc</a:t>
              </a:r>
              <a:r>
                <a:rPr lang="en-US" sz="21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1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Nhơn</a:t>
              </a:r>
              <a:r>
                <a:rPr lang="en-US" sz="21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 </a:t>
              </a:r>
            </a:p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Nguyễn</a:t>
              </a:r>
              <a:r>
                <a:rPr lang="en-US" sz="21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1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Quốc</a:t>
              </a:r>
              <a:r>
                <a:rPr lang="en-US" sz="21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Anh  </a:t>
              </a:r>
            </a:p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Phan </a:t>
              </a:r>
              <a:r>
                <a:rPr lang="en-US" sz="21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Quốc</a:t>
              </a:r>
              <a:r>
                <a:rPr lang="en-US" sz="21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Trung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692016" y="4401714"/>
            <a:ext cx="6225288" cy="3893634"/>
          </a:xfrm>
          <a:custGeom>
            <a:avLst/>
            <a:gdLst/>
            <a:ahLst/>
            <a:cxnLst/>
            <a:rect l="l" t="t" r="r" b="b"/>
            <a:pathLst>
              <a:path w="6225288" h="3893634">
                <a:moveTo>
                  <a:pt x="0" y="0"/>
                </a:moveTo>
                <a:lnTo>
                  <a:pt x="6225288" y="0"/>
                </a:lnTo>
                <a:lnTo>
                  <a:pt x="6225288" y="3893634"/>
                </a:lnTo>
                <a:lnTo>
                  <a:pt x="0" y="38936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100246" y="3001723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203414">
            <a:off x="11173930" y="3499519"/>
            <a:ext cx="321948" cy="461574"/>
          </a:xfrm>
          <a:custGeom>
            <a:avLst/>
            <a:gdLst/>
            <a:ahLst/>
            <a:cxnLst/>
            <a:rect l="l" t="t" r="r" b="b"/>
            <a:pathLst>
              <a:path w="321948" h="461574">
                <a:moveTo>
                  <a:pt x="0" y="0"/>
                </a:moveTo>
                <a:lnTo>
                  <a:pt x="321948" y="0"/>
                </a:lnTo>
                <a:lnTo>
                  <a:pt x="321948" y="461574"/>
                </a:lnTo>
                <a:lnTo>
                  <a:pt x="0" y="4615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878735" y="7911509"/>
            <a:ext cx="3544008" cy="926893"/>
            <a:chOff x="0" y="0"/>
            <a:chExt cx="4725344" cy="1235858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725344" cy="1235858"/>
              <a:chOff x="0" y="0"/>
              <a:chExt cx="1292864" cy="33813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92864" cy="338133"/>
              </a:xfrm>
              <a:custGeom>
                <a:avLst/>
                <a:gdLst/>
                <a:ahLst/>
                <a:cxnLst/>
                <a:rect l="l" t="t" r="r" b="b"/>
                <a:pathLst>
                  <a:path w="1292864" h="338133">
                    <a:moveTo>
                      <a:pt x="0" y="0"/>
                    </a:moveTo>
                    <a:lnTo>
                      <a:pt x="1292864" y="0"/>
                    </a:lnTo>
                    <a:lnTo>
                      <a:pt x="1292864" y="338133"/>
                    </a:lnTo>
                    <a:lnTo>
                      <a:pt x="0" y="33813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20" name="Freeform 20"/>
            <p:cNvSpPr/>
            <p:nvPr/>
          </p:nvSpPr>
          <p:spPr>
            <a:xfrm>
              <a:off x="289760" y="288340"/>
              <a:ext cx="974589" cy="659177"/>
            </a:xfrm>
            <a:custGeom>
              <a:avLst/>
              <a:gdLst/>
              <a:ahLst/>
              <a:cxnLst/>
              <a:rect l="l" t="t" r="r" b="b"/>
              <a:pathLst>
                <a:path w="974589" h="659177">
                  <a:moveTo>
                    <a:pt x="0" y="0"/>
                  </a:moveTo>
                  <a:lnTo>
                    <a:pt x="974589" y="0"/>
                  </a:lnTo>
                  <a:lnTo>
                    <a:pt x="974589" y="659177"/>
                  </a:lnTo>
                  <a:lnTo>
                    <a:pt x="0" y="659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583848" y="328157"/>
              <a:ext cx="2836341" cy="512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Group 6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2690344" y="1991652"/>
            <a:ext cx="2228632" cy="1815322"/>
          </a:xfrm>
          <a:custGeom>
            <a:avLst/>
            <a:gdLst/>
            <a:ahLst/>
            <a:cxnLst/>
            <a:rect l="l" t="t" r="r" b="b"/>
            <a:pathLst>
              <a:path w="2228632" h="1815322">
                <a:moveTo>
                  <a:pt x="0" y="0"/>
                </a:moveTo>
                <a:lnTo>
                  <a:pt x="2228632" y="0"/>
                </a:lnTo>
                <a:lnTo>
                  <a:pt x="2228632" y="1815322"/>
                </a:lnTo>
                <a:lnTo>
                  <a:pt x="0" y="181532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89345" y="1857639"/>
            <a:ext cx="8123976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b="1" spc="144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Viet Nam Import &amp; Export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89345" y="6601089"/>
            <a:ext cx="443883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Implement the Model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72943" y="652068"/>
            <a:ext cx="13542113" cy="1635030"/>
            <a:chOff x="0" y="0"/>
            <a:chExt cx="5762066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695693"/>
            </a:xfrm>
            <a:custGeom>
              <a:avLst/>
              <a:gdLst/>
              <a:ahLst/>
              <a:cxnLst/>
              <a:rect l="l" t="t" r="r" b="b"/>
              <a:pathLst>
                <a:path w="5762066" h="695693">
                  <a:moveTo>
                    <a:pt x="0" y="0"/>
                  </a:moveTo>
                  <a:lnTo>
                    <a:pt x="5762066" y="0"/>
                  </a:lnTo>
                  <a:lnTo>
                    <a:pt x="5762066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821430" y="6055702"/>
            <a:ext cx="4791997" cy="4775719"/>
            <a:chOff x="0" y="0"/>
            <a:chExt cx="6389330" cy="6367625"/>
          </a:xfrm>
        </p:grpSpPr>
        <p:sp>
          <p:nvSpPr>
            <p:cNvPr id="7" name="Freeform 7"/>
            <p:cNvSpPr/>
            <p:nvPr/>
          </p:nvSpPr>
          <p:spPr>
            <a:xfrm>
              <a:off x="0" y="338421"/>
              <a:ext cx="6389330" cy="6029204"/>
            </a:xfrm>
            <a:custGeom>
              <a:avLst/>
              <a:gdLst/>
              <a:ahLst/>
              <a:cxnLst/>
              <a:rect l="l" t="t" r="r" b="b"/>
              <a:pathLst>
                <a:path w="6389330" h="6029204">
                  <a:moveTo>
                    <a:pt x="0" y="0"/>
                  </a:moveTo>
                  <a:lnTo>
                    <a:pt x="6389330" y="0"/>
                  </a:lnTo>
                  <a:lnTo>
                    <a:pt x="6389330" y="6029204"/>
                  </a:lnTo>
                  <a:lnTo>
                    <a:pt x="0" y="6029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203414">
              <a:off x="1228888" y="24588"/>
              <a:ext cx="868401" cy="1245020"/>
            </a:xfrm>
            <a:custGeom>
              <a:avLst/>
              <a:gdLst/>
              <a:ahLst/>
              <a:cxnLst/>
              <a:rect l="l" t="t" r="r" b="b"/>
              <a:pathLst>
                <a:path w="868401" h="1245020">
                  <a:moveTo>
                    <a:pt x="0" y="0"/>
                  </a:moveTo>
                  <a:lnTo>
                    <a:pt x="868401" y="0"/>
                  </a:lnTo>
                  <a:lnTo>
                    <a:pt x="868401" y="1245019"/>
                  </a:lnTo>
                  <a:lnTo>
                    <a:pt x="0" y="124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5355359" y="4478625"/>
            <a:ext cx="7577281" cy="1329750"/>
          </a:xfrm>
          <a:custGeom>
            <a:avLst/>
            <a:gdLst/>
            <a:ahLst/>
            <a:cxnLst/>
            <a:rect l="l" t="t" r="r" b="b"/>
            <a:pathLst>
              <a:path w="7577281" h="1329750">
                <a:moveTo>
                  <a:pt x="0" y="0"/>
                </a:moveTo>
                <a:lnTo>
                  <a:pt x="7577282" y="0"/>
                </a:lnTo>
                <a:lnTo>
                  <a:pt x="7577282" y="1329750"/>
                </a:lnTo>
                <a:lnTo>
                  <a:pt x="0" y="13297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877284" y="679008"/>
            <a:ext cx="12533432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Prophet 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94" y="2497567"/>
            <a:ext cx="15795020" cy="2383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In this project, we use the </a:t>
            </a:r>
            <a:r>
              <a:rPr lang="en-US" sz="36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Prophet </a:t>
            </a:r>
            <a:r>
              <a:rPr lang="en-US" sz="36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model developed by Facebook (Meta)</a:t>
            </a:r>
          </a:p>
          <a:p>
            <a:pPr algn="ctr">
              <a:lnSpc>
                <a:spcPts val="4680"/>
              </a:lnSpc>
            </a:pPr>
            <a:r>
              <a:rPr lang="en-US" sz="36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Prophet </a:t>
            </a:r>
            <a:r>
              <a:rPr lang="en-US" sz="36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is a time series forecasting model that works well with data that has trend and seasonal patterns.</a:t>
            </a:r>
          </a:p>
          <a:p>
            <a:pPr algn="ctr">
              <a:lnSpc>
                <a:spcPts val="4680"/>
              </a:lnSpc>
              <a:spcBef>
                <a:spcPct val="0"/>
              </a:spcBef>
            </a:pPr>
            <a:endParaRPr lang="en-US" sz="3600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70220" y="5741700"/>
            <a:ext cx="13165372" cy="415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80"/>
              </a:lnSpc>
            </a:pPr>
            <a:r>
              <a:rPr lang="en-US" sz="36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Where:</a:t>
            </a:r>
          </a:p>
          <a:p>
            <a:pPr marL="777240" lvl="1" indent="-388620" algn="just">
              <a:lnSpc>
                <a:spcPts val="4680"/>
              </a:lnSpc>
              <a:buFont typeface="Arial"/>
              <a:buChar char="•"/>
            </a:pPr>
            <a:r>
              <a:rPr lang="en-US" sz="36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g(t)</a:t>
            </a:r>
            <a:r>
              <a:rPr lang="en-US" sz="36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 represents the trend (long-term increase or decrease)</a:t>
            </a:r>
          </a:p>
          <a:p>
            <a:pPr marL="777240" lvl="1" indent="-388620" algn="just">
              <a:lnSpc>
                <a:spcPts val="4680"/>
              </a:lnSpc>
              <a:buFont typeface="Arial"/>
              <a:buChar char="•"/>
            </a:pPr>
            <a:r>
              <a:rPr lang="en-US" sz="36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s(t)</a:t>
            </a:r>
            <a:r>
              <a:rPr lang="en-US" sz="36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 represents the seasonality (repeating patterns such as months or years)</a:t>
            </a:r>
          </a:p>
          <a:p>
            <a:pPr marL="777240" lvl="1" indent="-388620" algn="just">
              <a:lnSpc>
                <a:spcPts val="4680"/>
              </a:lnSpc>
              <a:buFont typeface="Arial"/>
              <a:buChar char="•"/>
            </a:pPr>
            <a:r>
              <a:rPr lang="en-US" sz="36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h(t)</a:t>
            </a:r>
            <a:r>
              <a:rPr lang="en-US" sz="36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 can include holiday effects or special events</a:t>
            </a:r>
          </a:p>
          <a:p>
            <a:pPr marL="777240" lvl="1" indent="-388620" algn="just">
              <a:lnSpc>
                <a:spcPts val="4680"/>
              </a:lnSpc>
              <a:buFont typeface="Arial"/>
              <a:buChar char="•"/>
            </a:pPr>
            <a:r>
              <a:rPr lang="en-US" sz="36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εₜ</a:t>
            </a:r>
            <a:r>
              <a:rPr lang="en-US" sz="36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 is random noise</a:t>
            </a:r>
          </a:p>
          <a:p>
            <a:pPr algn="just">
              <a:lnSpc>
                <a:spcPts val="4680"/>
              </a:lnSpc>
              <a:spcBef>
                <a:spcPct val="0"/>
              </a:spcBef>
            </a:pPr>
            <a:endParaRPr lang="en-US" sz="3600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8351" y="332259"/>
            <a:ext cx="13522213" cy="2231983"/>
            <a:chOff x="0" y="0"/>
            <a:chExt cx="4932940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32940" cy="695693"/>
            </a:xfrm>
            <a:custGeom>
              <a:avLst/>
              <a:gdLst/>
              <a:ahLst/>
              <a:cxnLst/>
              <a:rect l="l" t="t" r="r" b="b"/>
              <a:pathLst>
                <a:path w="4932940" h="695693">
                  <a:moveTo>
                    <a:pt x="0" y="0"/>
                  </a:moveTo>
                  <a:lnTo>
                    <a:pt x="4932940" y="0"/>
                  </a:lnTo>
                  <a:lnTo>
                    <a:pt x="4932940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5301511" y="-207276"/>
            <a:ext cx="4876557" cy="1728961"/>
          </a:xfrm>
          <a:custGeom>
            <a:avLst/>
            <a:gdLst/>
            <a:ahLst/>
            <a:cxnLst/>
            <a:rect l="l" t="t" r="r" b="b"/>
            <a:pathLst>
              <a:path w="4876557" h="1728961">
                <a:moveTo>
                  <a:pt x="0" y="0"/>
                </a:moveTo>
                <a:lnTo>
                  <a:pt x="4876558" y="0"/>
                </a:lnTo>
                <a:lnTo>
                  <a:pt x="4876558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8469322" y="9150674"/>
            <a:ext cx="4876557" cy="1728961"/>
          </a:xfrm>
          <a:custGeom>
            <a:avLst/>
            <a:gdLst/>
            <a:ahLst/>
            <a:cxnLst/>
            <a:rect l="l" t="t" r="r" b="b"/>
            <a:pathLst>
              <a:path w="4876557" h="1728961">
                <a:moveTo>
                  <a:pt x="0" y="0"/>
                </a:moveTo>
                <a:lnTo>
                  <a:pt x="4876557" y="0"/>
                </a:lnTo>
                <a:lnTo>
                  <a:pt x="4876557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95787" y="2917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2155" y="2803463"/>
            <a:ext cx="4391434" cy="6137209"/>
          </a:xfrm>
          <a:custGeom>
            <a:avLst/>
            <a:gdLst/>
            <a:ahLst/>
            <a:cxnLst/>
            <a:rect l="l" t="t" r="r" b="b"/>
            <a:pathLst>
              <a:path w="4391434" h="6137209">
                <a:moveTo>
                  <a:pt x="0" y="0"/>
                </a:moveTo>
                <a:lnTo>
                  <a:pt x="4391434" y="0"/>
                </a:lnTo>
                <a:lnTo>
                  <a:pt x="4391434" y="6137208"/>
                </a:lnTo>
                <a:lnTo>
                  <a:pt x="0" y="61372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2155" y="332259"/>
            <a:ext cx="11320449" cy="2471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91"/>
              </a:lnSpc>
              <a:spcBef>
                <a:spcPct val="0"/>
              </a:spcBef>
            </a:pPr>
            <a:r>
              <a:rPr lang="en-US" sz="7826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Comprehension about Trend Modeling - g(t)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10"/>
              <p:cNvSpPr txBox="1"/>
              <p:nvPr/>
            </p:nvSpPr>
            <p:spPr>
              <a:xfrm>
                <a:off x="6325151" y="2755838"/>
                <a:ext cx="11055060" cy="640431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275"/>
                  </a:lnSpc>
                </a:pP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1. Base Trend g₀(t)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Prophet first fits a simple straight line for all data:</a:t>
                </a:r>
              </a:p>
              <a:p>
                <a:pPr algn="ctr">
                  <a:lnSpc>
                    <a:spcPts val="3900"/>
                  </a:lnSpc>
                </a:pPr>
                <a14:m>
                  <m:oMath xmlns:m="http://schemas.openxmlformats.org/officeDocument/2006/math">
                    <m:r>
                      <a:rPr lang="en-US" sz="3000" b="1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  <a:ea typeface="Telegraf Bold"/>
                        <a:cs typeface="Telegraf Bold"/>
                        <a:sym typeface="Telegraf Bold"/>
                      </a:rPr>
                      <m:t>𝒈</m:t>
                    </m:r>
                    <m:d>
                      <m:dPr>
                        <m:ctrlPr>
                          <a:rPr lang="en-US" sz="3000" b="1" i="1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ea typeface="Telegraf Bold"/>
                            <a:cs typeface="Telegraf Bold"/>
                            <a:sym typeface="Telegraf Bold"/>
                          </a:rPr>
                        </m:ctrlPr>
                      </m:dPr>
                      <m:e>
                        <m:r>
                          <a:rPr lang="en-US" sz="3000" b="1" i="1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  <a:ea typeface="Telegraf Bold"/>
                            <a:cs typeface="Telegraf Bold"/>
                            <a:sym typeface="Telegraf Bold"/>
                          </a:rPr>
                          <m:t>𝒕</m:t>
                        </m:r>
                      </m:e>
                    </m:d>
                    <m:r>
                      <a:rPr lang="en-US" sz="3000" b="1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  <a:ea typeface="Telegraf Bold"/>
                        <a:cs typeface="Telegraf Bold"/>
                        <a:sym typeface="Telegraf Bold"/>
                      </a:rPr>
                      <m:t>=</m:t>
                    </m:r>
                    <m:r>
                      <a:rPr lang="en-US" sz="3000" b="1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  <a:ea typeface="Telegraf Bold"/>
                        <a:cs typeface="Telegraf Bold"/>
                        <a:sym typeface="Telegraf Bold"/>
                      </a:rPr>
                      <m:t>𝒌</m:t>
                    </m:r>
                    <m:r>
                      <a:rPr lang="en-US" sz="3000" b="1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  <a:ea typeface="Telegraf Bold"/>
                        <a:cs typeface="Telegraf Bold"/>
                        <a:sym typeface="Telegraf Bold"/>
                      </a:rPr>
                      <m:t>.</m:t>
                    </m:r>
                    <m:r>
                      <a:rPr lang="en-US" sz="3000" b="1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  <a:ea typeface="Telegraf Bold"/>
                        <a:cs typeface="Telegraf Bold"/>
                        <a:sym typeface="Telegraf Bold"/>
                      </a:rPr>
                      <m:t>𝒕</m:t>
                    </m:r>
                    <m:r>
                      <a:rPr lang="en-US" sz="3000" b="1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  <a:ea typeface="Telegraf Bold"/>
                        <a:cs typeface="Telegraf Bold"/>
                        <a:sym typeface="Telegraf Bold"/>
                      </a:rPr>
                      <m:t>+</m:t>
                    </m:r>
                    <m:r>
                      <a:rPr lang="en-US" sz="3000" b="1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  <a:ea typeface="Telegraf Bold"/>
                        <a:cs typeface="Telegraf Bold"/>
                        <a:sym typeface="Telegraf Bold"/>
                      </a:rPr>
                      <m:t>𝒎</m:t>
                    </m:r>
                  </m:oMath>
                </a14:m>
                <a:r>
                  <a:rPr lang="en-US" sz="3000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 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For example:</a:t>
                </a:r>
              </a:p>
              <a:p>
                <a:pPr marL="543995" lvl="1" indent="-271998" algn="l">
                  <a:lnSpc>
                    <a:spcPts val="3275"/>
                  </a:lnSpc>
                  <a:buFont typeface="Arial"/>
                  <a:buChar char="•"/>
                </a:pP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k 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= 20 (growth per month)</a:t>
                </a:r>
              </a:p>
              <a:p>
                <a:pPr marL="543995" lvl="1" indent="-271998" algn="l">
                  <a:lnSpc>
                    <a:spcPts val="3275"/>
                  </a:lnSpc>
                  <a:buFont typeface="Arial"/>
                  <a:buChar char="•"/>
                </a:pP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m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 = 80 (starting point)</a:t>
                </a:r>
              </a:p>
              <a:p>
                <a:pPr algn="l">
                  <a:lnSpc>
                    <a:spcPts val="3275"/>
                  </a:lnSpc>
                </a:pPr>
                <a:endParaRPr lang="en-US" sz="2519" dirty="0">
                  <a:solidFill>
                    <a:srgbClr val="202020"/>
                  </a:solidFill>
                  <a:latin typeface="Calibri (Headings)"/>
                  <a:ea typeface="Telegraf"/>
                  <a:cs typeface="Telegraf"/>
                  <a:sym typeface="Telegraf"/>
                </a:endParaRPr>
              </a:p>
              <a:p>
                <a:pPr algn="l">
                  <a:lnSpc>
                    <a:spcPts val="3275"/>
                  </a:lnSpc>
                </a:pP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2. Changepoint (tⱼ)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Prophet checks where the error increases and finds a changepoint, here at month 7.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After this point, Prophet allows the slope (k) to change:</a:t>
                </a:r>
              </a:p>
              <a:p>
                <a:pPr algn="l">
                  <a:lnSpc>
                    <a:spcPts val="3275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b="1" i="1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  <a:ea typeface="Telegraf Bold"/>
                          <a:cs typeface="Telegraf Bold"/>
                          <a:sym typeface="Telegraf Bold"/>
                        </a:rPr>
                        <m:t>𝑲</m:t>
                      </m:r>
                      <m:d>
                        <m:dPr>
                          <m:ctrlPr>
                            <a:rPr lang="en-US" sz="3000" b="1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ea typeface="Telegraf Bold"/>
                              <a:cs typeface="Telegraf Bold"/>
                              <a:sym typeface="Telegraf Bold"/>
                            </a:rPr>
                          </m:ctrlPr>
                        </m:dPr>
                        <m:e>
                          <m:r>
                            <a:rPr lang="en-US" sz="3000" b="1" i="1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ea typeface="Telegraf Bold"/>
                              <a:cs typeface="Telegraf Bold"/>
                              <a:sym typeface="Telegraf Bold"/>
                            </a:rPr>
                            <m:t>𝒏𝒆𝒘</m:t>
                          </m:r>
                        </m:e>
                      </m:d>
                      <m:r>
                        <a:rPr lang="en-US" sz="3000" b="1" i="1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  <a:ea typeface="Telegraf Bold"/>
                          <a:cs typeface="Telegraf Bold"/>
                          <a:sym typeface="Telegraf Bold"/>
                        </a:rPr>
                        <m:t>=</m:t>
                      </m:r>
                      <m:r>
                        <a:rPr lang="en-US" sz="3000" b="1" i="1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  <a:ea typeface="Telegraf Bold"/>
                          <a:cs typeface="Telegraf Bold"/>
                          <a:sym typeface="Telegraf Bold"/>
                        </a:rPr>
                        <m:t>𝒌</m:t>
                      </m:r>
                      <m:r>
                        <a:rPr lang="en-US" sz="3000" b="1" i="1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  <a:ea typeface="Telegraf Bold"/>
                          <a:cs typeface="Telegraf Bold"/>
                          <a:sym typeface="Telegraf Bold"/>
                        </a:rPr>
                        <m:t>+</m:t>
                      </m:r>
                      <m:r>
                        <m:rPr>
                          <m:nor/>
                        </m:rPr>
                        <a:rPr lang="en-US" sz="3000" b="1" dirty="0">
                          <a:solidFill>
                            <a:srgbClr val="202020"/>
                          </a:solidFill>
                          <a:latin typeface="Calibri (Headings)"/>
                          <a:ea typeface="Telegraf Bold"/>
                          <a:cs typeface="Telegraf Bold"/>
                          <a:sym typeface="Telegraf Bold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3000" b="1" dirty="0">
                          <a:solidFill>
                            <a:srgbClr val="202020"/>
                          </a:solidFill>
                          <a:latin typeface="Calibri (Headings)"/>
                          <a:ea typeface="Telegraf Bold"/>
                          <a:cs typeface="Telegraf Bold"/>
                          <a:sym typeface="Telegraf Bold"/>
                        </a:rPr>
                        <m:t>₁</m:t>
                      </m:r>
                    </m:oMath>
                  </m:oMathPara>
                </a14:m>
                <a:endParaRPr lang="en-US" sz="3000" dirty="0">
                  <a:solidFill>
                    <a:srgbClr val="202020"/>
                  </a:solidFill>
                  <a:latin typeface="Calibri (Headings)"/>
                  <a:ea typeface="Telegraf"/>
                  <a:cs typeface="Telegraf"/>
                  <a:sym typeface="Telegraf"/>
                </a:endParaRP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If 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δ₁ = +10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, then the new slope = 20 + 10 = 30.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 → The trend becomes steeper after month 7.</a:t>
                </a:r>
              </a:p>
              <a:p>
                <a:pPr algn="l">
                  <a:lnSpc>
                    <a:spcPts val="3275"/>
                  </a:lnSpc>
                </a:pPr>
                <a:endParaRPr lang="en-US" sz="2519" dirty="0">
                  <a:solidFill>
                    <a:srgbClr val="202020"/>
                  </a:solidFill>
                  <a:latin typeface="Calibri (Headings)"/>
                  <a:ea typeface="Telegraf"/>
                  <a:cs typeface="Telegraf"/>
                  <a:sym typeface="Telegraf"/>
                </a:endParaRPr>
              </a:p>
              <a:p>
                <a:pPr algn="l">
                  <a:lnSpc>
                    <a:spcPts val="3275"/>
                  </a:lnSpc>
                  <a:spcBef>
                    <a:spcPct val="0"/>
                  </a:spcBef>
                </a:pPr>
                <a:endParaRPr lang="en-US" sz="2519" dirty="0">
                  <a:solidFill>
                    <a:srgbClr val="202020"/>
                  </a:solidFill>
                  <a:latin typeface="Calibri (Headings)"/>
                  <a:ea typeface="Telegraf"/>
                  <a:cs typeface="Telegraf"/>
                  <a:sym typeface="Telegraf"/>
                </a:endParaRPr>
              </a:p>
            </p:txBody>
          </p:sp>
        </mc:Choice>
        <mc:Fallback xmlns="">
          <p:sp>
            <p:nvSpPr>
              <p:cNvPr id="10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151" y="2755838"/>
                <a:ext cx="11055060" cy="6404317"/>
              </a:xfrm>
              <a:prstGeom prst="rect">
                <a:avLst/>
              </a:prstGeom>
              <a:blipFill>
                <a:blip r:embed="rId8"/>
                <a:stretch>
                  <a:fillRect l="-1765" t="-1142" r="-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 14"/>
          <p:cNvSpPr/>
          <p:nvPr/>
        </p:nvSpPr>
        <p:spPr>
          <a:xfrm>
            <a:off x="13175786" y="893857"/>
            <a:ext cx="926271" cy="1215869"/>
          </a:xfrm>
          <a:custGeom>
            <a:avLst/>
            <a:gdLst/>
            <a:ahLst/>
            <a:cxnLst/>
            <a:rect l="l" t="t" r="r" b="b"/>
            <a:pathLst>
              <a:path w="1235028" h="1621159">
                <a:moveTo>
                  <a:pt x="0" y="0"/>
                </a:moveTo>
                <a:lnTo>
                  <a:pt x="1235028" y="0"/>
                </a:lnTo>
                <a:lnTo>
                  <a:pt x="1235028" y="1621158"/>
                </a:lnTo>
                <a:lnTo>
                  <a:pt x="0" y="16211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9200" y="291782"/>
            <a:ext cx="13522213" cy="2183422"/>
            <a:chOff x="0" y="0"/>
            <a:chExt cx="4932940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32940" cy="695693"/>
            </a:xfrm>
            <a:custGeom>
              <a:avLst/>
              <a:gdLst/>
              <a:ahLst/>
              <a:cxnLst/>
              <a:rect l="l" t="t" r="r" b="b"/>
              <a:pathLst>
                <a:path w="4932940" h="695693">
                  <a:moveTo>
                    <a:pt x="0" y="0"/>
                  </a:moveTo>
                  <a:lnTo>
                    <a:pt x="4932940" y="0"/>
                  </a:lnTo>
                  <a:lnTo>
                    <a:pt x="4932940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5301511" y="-207276"/>
            <a:ext cx="4876557" cy="1728961"/>
          </a:xfrm>
          <a:custGeom>
            <a:avLst/>
            <a:gdLst/>
            <a:ahLst/>
            <a:cxnLst/>
            <a:rect l="l" t="t" r="r" b="b"/>
            <a:pathLst>
              <a:path w="4876557" h="1728961">
                <a:moveTo>
                  <a:pt x="0" y="0"/>
                </a:moveTo>
                <a:lnTo>
                  <a:pt x="4876558" y="0"/>
                </a:lnTo>
                <a:lnTo>
                  <a:pt x="4876558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444033" y="8558039"/>
            <a:ext cx="4876557" cy="1728961"/>
          </a:xfrm>
          <a:custGeom>
            <a:avLst/>
            <a:gdLst/>
            <a:ahLst/>
            <a:cxnLst/>
            <a:rect l="l" t="t" r="r" b="b"/>
            <a:pathLst>
              <a:path w="4876557" h="1728961">
                <a:moveTo>
                  <a:pt x="0" y="0"/>
                </a:moveTo>
                <a:lnTo>
                  <a:pt x="4876557" y="0"/>
                </a:lnTo>
                <a:lnTo>
                  <a:pt x="4876557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95787" y="2917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27527" y="3164444"/>
            <a:ext cx="4391434" cy="6137209"/>
          </a:xfrm>
          <a:custGeom>
            <a:avLst/>
            <a:gdLst/>
            <a:ahLst/>
            <a:cxnLst/>
            <a:rect l="l" t="t" r="r" b="b"/>
            <a:pathLst>
              <a:path w="4391434" h="6137209">
                <a:moveTo>
                  <a:pt x="0" y="0"/>
                </a:moveTo>
                <a:lnTo>
                  <a:pt x="4391434" y="0"/>
                </a:lnTo>
                <a:lnTo>
                  <a:pt x="4391434" y="6137208"/>
                </a:lnTo>
                <a:lnTo>
                  <a:pt x="0" y="61372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82155" y="332259"/>
            <a:ext cx="11320449" cy="2471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91"/>
              </a:lnSpc>
              <a:spcBef>
                <a:spcPct val="0"/>
              </a:spcBef>
            </a:pPr>
            <a:r>
              <a:rPr lang="en-US" sz="7826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Comprehension about Trend Modeling - g(t)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10"/>
              <p:cNvSpPr txBox="1"/>
              <p:nvPr/>
            </p:nvSpPr>
            <p:spPr>
              <a:xfrm>
                <a:off x="6204240" y="2755838"/>
                <a:ext cx="11055060" cy="775084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275"/>
                  </a:lnSpc>
                </a:pP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3. Offset Correction (γ)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When the slope changes, the line can “jump” at the changepoint.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Prophet adds γ₁ (gamma) to move the line up or down, keeping it smooth and continuous.</a:t>
                </a:r>
              </a:p>
              <a:p>
                <a:pPr>
                  <a:lnSpc>
                    <a:spcPts val="39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1" i="1" dirty="0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</m:ctrlPr>
                        </m:sSubPr>
                        <m:e>
                          <m:r>
                            <a:rPr lang="en-US" sz="3000" b="1" i="0" dirty="0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𝐲</m:t>
                          </m:r>
                        </m:e>
                        <m:sub>
                          <m:r>
                            <a:rPr lang="en-US" sz="3000" b="1" i="0" dirty="0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𝟏</m:t>
                          </m:r>
                        </m:sub>
                      </m:sSub>
                      <m:r>
                        <a:rPr lang="en-US" sz="3000" b="1" i="0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  <a:sym typeface="Telegraf Bold"/>
                        </a:rPr>
                        <m:t>=−</m:t>
                      </m:r>
                      <m:sSub>
                        <m:sSubPr>
                          <m:ctrlPr>
                            <a:rPr lang="en-US" sz="3000" b="1" i="1" dirty="0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</m:ctrlPr>
                        </m:sSubPr>
                        <m:e>
                          <m:r>
                            <a:rPr lang="en-US" sz="3000" b="1" i="0" dirty="0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𝛅</m:t>
                          </m:r>
                        </m:e>
                        <m:sub>
                          <m:r>
                            <a:rPr lang="en-US" sz="3000" b="1" i="0" dirty="0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𝟏</m:t>
                          </m:r>
                        </m:sub>
                      </m:sSub>
                      <m:r>
                        <a:rPr lang="en-US" sz="3000" b="1" i="0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  <a:sym typeface="Telegraf Bold"/>
                        </a:rPr>
                        <m:t>⋅</m:t>
                      </m:r>
                      <m:sSub>
                        <m:sSubPr>
                          <m:ctrlPr>
                            <a:rPr lang="en-US" sz="3000" b="1" i="1" dirty="0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</m:ctrlPr>
                        </m:sSubPr>
                        <m:e>
                          <m:r>
                            <a:rPr lang="en-US" sz="3000" b="1" i="0" dirty="0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𝐭</m:t>
                          </m:r>
                        </m:e>
                        <m:sub>
                          <m:r>
                            <a:rPr lang="en-US" sz="3000" b="1" i="0" dirty="0" smtClean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𝟏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000" b="1" i="0" dirty="0" smtClean="0">
                          <a:solidFill>
                            <a:srgbClr val="202020"/>
                          </a:solidFill>
                          <a:latin typeface="Calibri (Headings)"/>
                          <a:ea typeface="Telegraf Bold"/>
                          <a:cs typeface="Telegraf Bold"/>
                          <a:sym typeface="Telegraf Bold"/>
                        </a:rPr>
                        <m:t> </m:t>
                      </m:r>
                    </m:oMath>
                  </m:oMathPara>
                </a14:m>
                <a:endParaRPr lang="en-US" sz="3000" b="1" dirty="0">
                  <a:solidFill>
                    <a:srgbClr val="202020"/>
                  </a:solidFill>
                  <a:latin typeface="Calibri (Headings)"/>
                  <a:ea typeface="Telegraf Bold"/>
                  <a:cs typeface="Telegraf Bold"/>
                  <a:sym typeface="Telegraf Bold"/>
                </a:endParaRP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With 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δ₁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 = +10 and 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t₁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 = 7 → 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γ₁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 = -70.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So Prophet corrects the intercept by -70 to keep the two parts connected.</a:t>
                </a:r>
              </a:p>
              <a:p>
                <a:pPr algn="l">
                  <a:lnSpc>
                    <a:spcPts val="3275"/>
                  </a:lnSpc>
                </a:pPr>
                <a:endParaRPr lang="en-US" sz="2519" dirty="0">
                  <a:solidFill>
                    <a:srgbClr val="202020"/>
                  </a:solidFill>
                  <a:latin typeface="Calibri (Headings)"/>
                  <a:ea typeface="Telegraf"/>
                  <a:cs typeface="Telegraf"/>
                  <a:sym typeface="Telegraf"/>
                </a:endParaRPr>
              </a:p>
              <a:p>
                <a:pPr algn="l">
                  <a:lnSpc>
                    <a:spcPts val="3275"/>
                  </a:lnSpc>
                </a:pP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4. Final Trend Function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The complete trend is:</a:t>
                </a:r>
              </a:p>
              <a:p>
                <a:pPr algn="l">
                  <a:lnSpc>
                    <a:spcPts val="39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b="1" i="1" dirty="0" smtClean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  <a:sym typeface="Telegraf Bold"/>
                        </a:rPr>
                        <m:t>𝒈</m:t>
                      </m:r>
                      <m:d>
                        <m:dPr>
                          <m:ctrlPr>
                            <a:rPr lang="en-US" sz="3000" b="1" i="1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</m:ctrlPr>
                        </m:dPr>
                        <m:e>
                          <m:r>
                            <a:rPr lang="en-US" sz="3000" b="1" i="1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𝒕</m:t>
                          </m:r>
                        </m:e>
                      </m:d>
                      <m:r>
                        <a:rPr lang="en-US" sz="3000" b="1" i="0" dirty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  <a:sym typeface="Telegraf Bold"/>
                        </a:rPr>
                        <m:t>=</m:t>
                      </m:r>
                      <m:d>
                        <m:dPr>
                          <m:ctrlPr>
                            <a:rPr lang="en-US" sz="3000" b="1" i="1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</m:ctrlPr>
                        </m:dPr>
                        <m:e>
                          <m:r>
                            <a:rPr lang="en-US" sz="3000" b="1" i="1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𝒌</m:t>
                          </m:r>
                          <m:r>
                            <a:rPr lang="en-US" sz="3000" b="1" i="0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+</m:t>
                          </m:r>
                          <m:r>
                            <a:rPr lang="en-US" sz="3000" b="1" i="1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𝜶</m:t>
                          </m:r>
                          <m:d>
                            <m:dPr>
                              <m:ctrlPr>
                                <a:rPr lang="en-US" sz="3000" b="1" i="1" dirty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  <a:sym typeface="Telegraf Bold"/>
                                </a:rPr>
                              </m:ctrlPr>
                            </m:dPr>
                            <m:e>
                              <m:r>
                                <a:rPr lang="en-US" sz="3000" b="1" i="1" dirty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  <a:sym typeface="Telegraf Bold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3000" b="1" i="1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𝜹</m:t>
                          </m:r>
                        </m:e>
                      </m:d>
                      <m:r>
                        <a:rPr lang="en-US" sz="3000" b="1" i="1" dirty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  <a:sym typeface="Telegraf Bold"/>
                        </a:rPr>
                        <m:t>𝒕</m:t>
                      </m:r>
                      <m:r>
                        <a:rPr lang="en-US" sz="3000" b="1" i="0" dirty="0">
                          <a:solidFill>
                            <a:srgbClr val="202020"/>
                          </a:solidFill>
                          <a:latin typeface="Cambria Math" panose="02040503050406030204" pitchFamily="18" charset="0"/>
                          <a:sym typeface="Telegraf Bold"/>
                        </a:rPr>
                        <m:t>+</m:t>
                      </m:r>
                      <m:d>
                        <m:dPr>
                          <m:ctrlPr>
                            <a:rPr lang="en-US" sz="3000" b="1" i="1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</m:ctrlPr>
                        </m:dPr>
                        <m:e>
                          <m:r>
                            <a:rPr lang="en-US" sz="3000" b="1" i="1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𝒎</m:t>
                          </m:r>
                          <m:r>
                            <a:rPr lang="en-US" sz="3000" b="1" i="0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+</m:t>
                          </m:r>
                          <m:r>
                            <a:rPr lang="en-US" sz="3000" b="1" i="1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𝜶</m:t>
                          </m:r>
                          <m:d>
                            <m:dPr>
                              <m:ctrlPr>
                                <a:rPr lang="en-US" sz="3000" b="1" i="1" dirty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  <a:sym typeface="Telegraf Bold"/>
                                </a:rPr>
                              </m:ctrlPr>
                            </m:dPr>
                            <m:e>
                              <m:r>
                                <a:rPr lang="en-US" sz="3000" b="1" i="1" dirty="0">
                                  <a:solidFill>
                                    <a:srgbClr val="202020"/>
                                  </a:solidFill>
                                  <a:latin typeface="Cambria Math" panose="02040503050406030204" pitchFamily="18" charset="0"/>
                                  <a:sym typeface="Telegraf Bold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3000" b="1" i="0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⋅</m:t>
                          </m:r>
                          <m:r>
                            <a:rPr lang="en-US" sz="3000" b="1" i="1" dirty="0">
                              <a:solidFill>
                                <a:srgbClr val="202020"/>
                              </a:solidFill>
                              <a:latin typeface="Cambria Math" panose="02040503050406030204" pitchFamily="18" charset="0"/>
                              <a:sym typeface="Telegraf Bold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3000" b="1" dirty="0">
                  <a:solidFill>
                    <a:srgbClr val="202020"/>
                  </a:solidFill>
                  <a:latin typeface="Calibri (Headings)"/>
                  <a:ea typeface="Telegraf Bold"/>
                  <a:cs typeface="Telegraf Bold"/>
                  <a:sym typeface="Telegraf Bold"/>
                </a:endParaRP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where 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a(t)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 is 0 before month 7 and 1 after month 7.</a:t>
                </a:r>
              </a:p>
              <a:p>
                <a:pPr marL="543995" lvl="1" indent="-271998" algn="l">
                  <a:lnSpc>
                    <a:spcPts val="3275"/>
                  </a:lnSpc>
                  <a:buFont typeface="Arial"/>
                  <a:buChar char="•"/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For 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t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 &lt; 7: 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g(t)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=20⋅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t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+80</a:t>
                </a:r>
              </a:p>
              <a:p>
                <a:pPr marL="543995" lvl="1" indent="-271998" algn="l">
                  <a:lnSpc>
                    <a:spcPts val="3275"/>
                  </a:lnSpc>
                  <a:buFont typeface="Arial"/>
                  <a:buChar char="•"/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For 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t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 ≥ 7: 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g(t)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=(20+10)⋅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t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+(80–70)=30⋅</a:t>
                </a:r>
                <a:r>
                  <a:rPr lang="en-US" sz="2519" b="1" dirty="0">
                    <a:solidFill>
                      <a:srgbClr val="202020"/>
                    </a:solidFill>
                    <a:latin typeface="Calibri (Headings)"/>
                    <a:ea typeface="Telegraf Bold"/>
                    <a:cs typeface="Telegraf Bold"/>
                    <a:sym typeface="Telegraf Bold"/>
                  </a:rPr>
                  <a:t>t</a:t>
                </a: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+10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Before month 7: slow growth (+20 per month)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After month 7: faster growth (+30 per month)</a:t>
                </a:r>
              </a:p>
              <a:p>
                <a:pPr algn="l">
                  <a:lnSpc>
                    <a:spcPts val="3275"/>
                  </a:lnSpc>
                </a:pPr>
                <a:r>
                  <a:rPr lang="en-US" sz="2519" dirty="0">
                    <a:solidFill>
                      <a:srgbClr val="202020"/>
                    </a:solidFill>
                    <a:latin typeface="Calibri (Headings)"/>
                    <a:ea typeface="Telegraf"/>
                    <a:cs typeface="Telegraf"/>
                    <a:sym typeface="Telegraf"/>
                  </a:rPr>
                  <a:t>Both lines meet smoothly at month 7.</a:t>
                </a:r>
              </a:p>
              <a:p>
                <a:pPr algn="l">
                  <a:lnSpc>
                    <a:spcPts val="3275"/>
                  </a:lnSpc>
                  <a:spcBef>
                    <a:spcPct val="0"/>
                  </a:spcBef>
                </a:pPr>
                <a:endParaRPr lang="en-US" sz="2519" dirty="0">
                  <a:solidFill>
                    <a:srgbClr val="202020"/>
                  </a:solidFill>
                  <a:latin typeface="Calibri (Headings)"/>
                  <a:ea typeface="Telegraf"/>
                  <a:cs typeface="Telegraf"/>
                  <a:sym typeface="Telegraf"/>
                </a:endParaRPr>
              </a:p>
            </p:txBody>
          </p:sp>
        </mc:Choice>
        <mc:Fallback xmlns="">
          <p:sp>
            <p:nvSpPr>
              <p:cNvPr id="10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240" y="2755838"/>
                <a:ext cx="11055060" cy="7750840"/>
              </a:xfrm>
              <a:prstGeom prst="rect">
                <a:avLst/>
              </a:prstGeom>
              <a:blipFill>
                <a:blip r:embed="rId8"/>
                <a:stretch>
                  <a:fillRect l="-1765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4">
            <a:extLst>
              <a:ext uri="{FF2B5EF4-FFF2-40B4-BE49-F238E27FC236}">
                <a16:creationId xmlns:a16="http://schemas.microsoft.com/office/drawing/2014/main" id="{A6980931-4C20-B4D7-9DBF-B38E6A8A1C2E}"/>
              </a:ext>
            </a:extLst>
          </p:cNvPr>
          <p:cNvSpPr/>
          <p:nvPr/>
        </p:nvSpPr>
        <p:spPr>
          <a:xfrm>
            <a:off x="13195533" y="828397"/>
            <a:ext cx="926271" cy="1215869"/>
          </a:xfrm>
          <a:custGeom>
            <a:avLst/>
            <a:gdLst/>
            <a:ahLst/>
            <a:cxnLst/>
            <a:rect l="l" t="t" r="r" b="b"/>
            <a:pathLst>
              <a:path w="1235028" h="1621159">
                <a:moveTo>
                  <a:pt x="0" y="0"/>
                </a:moveTo>
                <a:lnTo>
                  <a:pt x="1235028" y="0"/>
                </a:lnTo>
                <a:lnTo>
                  <a:pt x="1235028" y="1621158"/>
                </a:lnTo>
                <a:lnTo>
                  <a:pt x="0" y="16211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09650" y="249798"/>
            <a:ext cx="15795020" cy="2304771"/>
            <a:chOff x="0" y="0"/>
            <a:chExt cx="5762066" cy="12895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62066" cy="1289585"/>
            </a:xfrm>
            <a:custGeom>
              <a:avLst/>
              <a:gdLst/>
              <a:ahLst/>
              <a:cxnLst/>
              <a:rect l="l" t="t" r="r" b="b"/>
              <a:pathLst>
                <a:path w="5762066" h="1289585">
                  <a:moveTo>
                    <a:pt x="0" y="0"/>
                  </a:moveTo>
                  <a:lnTo>
                    <a:pt x="5762066" y="0"/>
                  </a:lnTo>
                  <a:lnTo>
                    <a:pt x="5762066" y="1289585"/>
                  </a:lnTo>
                  <a:lnTo>
                    <a:pt x="0" y="128958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 flipH="1">
            <a:off x="14972495" y="7296334"/>
            <a:ext cx="5533751" cy="1961966"/>
          </a:xfrm>
          <a:custGeom>
            <a:avLst/>
            <a:gdLst/>
            <a:ahLst/>
            <a:cxnLst/>
            <a:rect l="l" t="t" r="r" b="b"/>
            <a:pathLst>
              <a:path w="5533751" h="1961966">
                <a:moveTo>
                  <a:pt x="5533751" y="0"/>
                </a:moveTo>
                <a:lnTo>
                  <a:pt x="0" y="0"/>
                </a:lnTo>
                <a:lnTo>
                  <a:pt x="0" y="1961966"/>
                </a:lnTo>
                <a:lnTo>
                  <a:pt x="5533751" y="1961966"/>
                </a:lnTo>
                <a:lnTo>
                  <a:pt x="553375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218246" y="7296334"/>
            <a:ext cx="5533751" cy="1961966"/>
          </a:xfrm>
          <a:custGeom>
            <a:avLst/>
            <a:gdLst/>
            <a:ahLst/>
            <a:cxnLst/>
            <a:rect l="l" t="t" r="r" b="b"/>
            <a:pathLst>
              <a:path w="5533751" h="1961966">
                <a:moveTo>
                  <a:pt x="0" y="0"/>
                </a:moveTo>
                <a:lnTo>
                  <a:pt x="5533751" y="0"/>
                </a:lnTo>
                <a:lnTo>
                  <a:pt x="5533751" y="1961966"/>
                </a:lnTo>
                <a:lnTo>
                  <a:pt x="0" y="1961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04860" y="139052"/>
            <a:ext cx="12404600" cy="2312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391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Comprehension about Seasonality Modeling – s(t) 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793505" y="3742304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09650" y="1281714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29B86D-4724-4C46-37B0-727BB698FB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706" y="2941328"/>
            <a:ext cx="5275598" cy="5768133"/>
          </a:xfrm>
          <a:prstGeom prst="rect">
            <a:avLst/>
          </a:prstGeom>
        </p:spPr>
      </p:pic>
      <p:sp>
        <p:nvSpPr>
          <p:cNvPr id="22" name="TextBox 10">
            <a:extLst>
              <a:ext uri="{FF2B5EF4-FFF2-40B4-BE49-F238E27FC236}">
                <a16:creationId xmlns:a16="http://schemas.microsoft.com/office/drawing/2014/main" id="{86E23A8F-57A3-DCFD-AF1C-A62571CC8F4E}"/>
              </a:ext>
            </a:extLst>
          </p:cNvPr>
          <p:cNvSpPr txBox="1"/>
          <p:nvPr/>
        </p:nvSpPr>
        <p:spPr>
          <a:xfrm>
            <a:off x="6325151" y="2755838"/>
            <a:ext cx="11055060" cy="6789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 dirty="0">
                <a:latin typeface="Calibri (Headings)"/>
              </a:rPr>
              <a:t>1. Build the formula</a:t>
            </a:r>
          </a:p>
          <a:p>
            <a:r>
              <a:rPr lang="en-US" sz="2800" dirty="0">
                <a:latin typeface="Calibri (Headings)"/>
              </a:rPr>
              <a:t>With period </a:t>
            </a:r>
            <a:r>
              <a:rPr lang="en-US" sz="2800" b="1" dirty="0">
                <a:latin typeface="Calibri (Headings)"/>
              </a:rPr>
              <a:t>P</a:t>
            </a:r>
            <a:r>
              <a:rPr lang="en-US" sz="2800" dirty="0">
                <a:latin typeface="Calibri (Headings)"/>
              </a:rPr>
              <a:t> = 12 and </a:t>
            </a:r>
            <a:r>
              <a:rPr lang="en-US" sz="2800" b="1" dirty="0">
                <a:latin typeface="Calibri (Headings)"/>
              </a:rPr>
              <a:t>N</a:t>
            </a:r>
            <a:r>
              <a:rPr lang="en-US" sz="2800" dirty="0">
                <a:latin typeface="Calibri (Headings)"/>
              </a:rPr>
              <a:t> = 1: (Fourier series)</a:t>
            </a:r>
          </a:p>
          <a:p>
            <a:pPr algn="l">
              <a:lnSpc>
                <a:spcPts val="3275"/>
              </a:lnSpc>
            </a:pPr>
            <a:r>
              <a:rPr lang="en-US" sz="2519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	</a:t>
            </a:r>
          </a:p>
          <a:p>
            <a:pPr algn="l">
              <a:lnSpc>
                <a:spcPts val="3275"/>
              </a:lnSpc>
            </a:pPr>
            <a:endParaRPr lang="en-US" sz="2519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  <a:p>
            <a:pPr algn="l">
              <a:lnSpc>
                <a:spcPts val="3275"/>
              </a:lnSpc>
            </a:pPr>
            <a:r>
              <a:rPr lang="en-US" sz="2800" b="1" dirty="0">
                <a:latin typeface="Calibri (Headings)"/>
              </a:rPr>
              <a:t>Goal:</a:t>
            </a:r>
            <a:br>
              <a:rPr lang="en-US" sz="2800" dirty="0">
                <a:latin typeface="Calibri (Headings)"/>
              </a:rPr>
            </a:br>
            <a:r>
              <a:rPr lang="en-US" sz="2800" dirty="0">
                <a:latin typeface="Calibri (Headings)"/>
              </a:rPr>
              <a:t>Find a</a:t>
            </a:r>
            <a:r>
              <a:rPr lang="en-US" sz="28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₁</a:t>
            </a:r>
            <a:r>
              <a:rPr lang="en-US" sz="2800" dirty="0">
                <a:latin typeface="Calibri (Headings)"/>
              </a:rPr>
              <a:t> and b</a:t>
            </a:r>
            <a:r>
              <a:rPr lang="en-US" sz="28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₁ </a:t>
            </a:r>
            <a:r>
              <a:rPr lang="en-US" sz="2800" dirty="0">
                <a:latin typeface="Calibri (Headings)"/>
              </a:rPr>
              <a:t>​ that make the </a:t>
            </a:r>
            <a:r>
              <a:rPr lang="en-US" sz="2800" b="1" dirty="0">
                <a:latin typeface="Calibri (Headings)"/>
              </a:rPr>
              <a:t>Loss</a:t>
            </a:r>
            <a:r>
              <a:rPr lang="en-US" sz="2800" dirty="0">
                <a:latin typeface="Calibri (Headings)"/>
              </a:rPr>
              <a:t> (error) as small as possible:</a:t>
            </a:r>
          </a:p>
          <a:p>
            <a:pPr algn="l">
              <a:lnSpc>
                <a:spcPts val="3275"/>
              </a:lnSpc>
            </a:pPr>
            <a:endParaRPr lang="en-US" sz="2800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  <a:p>
            <a:pPr algn="l">
              <a:lnSpc>
                <a:spcPts val="3275"/>
              </a:lnSpc>
            </a:pPr>
            <a:endParaRPr lang="en-US" sz="2519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  <a:p>
            <a:r>
              <a:rPr lang="en-US" sz="2800" b="1" dirty="0">
                <a:latin typeface="Calibri (Headings)"/>
              </a:rPr>
              <a:t>2. Matrix form </a:t>
            </a:r>
          </a:p>
          <a:p>
            <a:r>
              <a:rPr lang="en-US" sz="2800" dirty="0">
                <a:latin typeface="Calibri (Headings)"/>
              </a:rPr>
              <a:t>We can write this as a matrix equation:</a:t>
            </a:r>
          </a:p>
          <a:p>
            <a:endParaRPr lang="en-US" sz="2800" dirty="0">
              <a:latin typeface="Calibri (Headings)"/>
            </a:endParaRPr>
          </a:p>
          <a:p>
            <a:pPr algn="l">
              <a:lnSpc>
                <a:spcPts val="3275"/>
              </a:lnSpc>
            </a:pPr>
            <a:endParaRPr lang="en-US" sz="2519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  <a:p>
            <a:pPr algn="l">
              <a:lnSpc>
                <a:spcPts val="3275"/>
              </a:lnSpc>
              <a:spcBef>
                <a:spcPct val="0"/>
              </a:spcBef>
            </a:pPr>
            <a:endParaRPr lang="en-US" sz="2519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  <a:p>
            <a:pPr algn="l">
              <a:lnSpc>
                <a:spcPts val="3275"/>
              </a:lnSpc>
              <a:spcBef>
                <a:spcPct val="0"/>
              </a:spcBef>
            </a:pPr>
            <a:endParaRPr lang="en-US" sz="2519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sz="2800" dirty="0">
                <a:latin typeface="Calibri (Headings)"/>
              </a:rPr>
              <a:t>Then the best coefficients are found by:</a:t>
            </a:r>
            <a:endParaRPr lang="en-US" sz="2519" dirty="0">
              <a:solidFill>
                <a:srgbClr val="202020"/>
              </a:solidFill>
              <a:latin typeface="Calibri (Headings)"/>
              <a:sym typeface="Telegraf"/>
            </a:endParaRPr>
          </a:p>
          <a:p>
            <a:pPr algn="l">
              <a:lnSpc>
                <a:spcPts val="3275"/>
              </a:lnSpc>
              <a:spcBef>
                <a:spcPct val="0"/>
              </a:spcBef>
            </a:pPr>
            <a:endParaRPr lang="en-US" sz="2519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F0EDB5F-CAE4-F0C4-ED00-76F11E44FC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800" y="3715055"/>
            <a:ext cx="4474915" cy="63314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4E70437-BA84-1F44-D6CA-D1820195F1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4648" y="5307413"/>
            <a:ext cx="4963218" cy="9240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0C553CD-A8F8-A6B6-4318-FDFD454EFE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9704" y="7002949"/>
            <a:ext cx="4505954" cy="165758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F38C364-4750-738A-C341-065BEADC42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2545" y="9228091"/>
            <a:ext cx="2907424" cy="948344"/>
          </a:xfrm>
          <a:prstGeom prst="rect">
            <a:avLst/>
          </a:prstGeom>
        </p:spPr>
      </p:pic>
      <p:sp>
        <p:nvSpPr>
          <p:cNvPr id="3" name="Freeform 22">
            <a:extLst>
              <a:ext uri="{FF2B5EF4-FFF2-40B4-BE49-F238E27FC236}">
                <a16:creationId xmlns:a16="http://schemas.microsoft.com/office/drawing/2014/main" id="{540273CD-A04C-CF42-D25F-FBE2BBC2E585}"/>
              </a:ext>
            </a:extLst>
          </p:cNvPr>
          <p:cNvSpPr/>
          <p:nvPr/>
        </p:nvSpPr>
        <p:spPr>
          <a:xfrm>
            <a:off x="15306937" y="884055"/>
            <a:ext cx="740234" cy="1109342"/>
          </a:xfrm>
          <a:custGeom>
            <a:avLst/>
            <a:gdLst/>
            <a:ahLst/>
            <a:cxnLst/>
            <a:rect l="l" t="t" r="r" b="b"/>
            <a:pathLst>
              <a:path w="986978" h="1479123">
                <a:moveTo>
                  <a:pt x="0" y="0"/>
                </a:moveTo>
                <a:lnTo>
                  <a:pt x="986979" y="0"/>
                </a:lnTo>
                <a:lnTo>
                  <a:pt x="986979" y="1479122"/>
                </a:lnTo>
                <a:lnTo>
                  <a:pt x="0" y="14791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5127-2799-E389-9228-DF456102B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1D7969-72FD-654F-B19E-D83F70CEB3AD}"/>
              </a:ext>
            </a:extLst>
          </p:cNvPr>
          <p:cNvSpPr/>
          <p:nvPr/>
        </p:nvSpPr>
        <p:spPr>
          <a:xfrm>
            <a:off x="-27196" y="2721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954D354-B472-8575-28CF-FD1C4DB7CEC7}"/>
              </a:ext>
            </a:extLst>
          </p:cNvPr>
          <p:cNvGrpSpPr/>
          <p:nvPr/>
        </p:nvGrpSpPr>
        <p:grpSpPr>
          <a:xfrm>
            <a:off x="1009650" y="249798"/>
            <a:ext cx="15795020" cy="2304771"/>
            <a:chOff x="0" y="0"/>
            <a:chExt cx="5762066" cy="128958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313E44F-EE68-C9E8-F32A-6329456D4A3F}"/>
                </a:ext>
              </a:extLst>
            </p:cNvPr>
            <p:cNvSpPr/>
            <p:nvPr/>
          </p:nvSpPr>
          <p:spPr>
            <a:xfrm>
              <a:off x="0" y="0"/>
              <a:ext cx="5762066" cy="1289585"/>
            </a:xfrm>
            <a:custGeom>
              <a:avLst/>
              <a:gdLst/>
              <a:ahLst/>
              <a:cxnLst/>
              <a:rect l="l" t="t" r="r" b="b"/>
              <a:pathLst>
                <a:path w="5762066" h="1289585">
                  <a:moveTo>
                    <a:pt x="0" y="0"/>
                  </a:moveTo>
                  <a:lnTo>
                    <a:pt x="5762066" y="0"/>
                  </a:lnTo>
                  <a:lnTo>
                    <a:pt x="5762066" y="1289585"/>
                  </a:lnTo>
                  <a:lnTo>
                    <a:pt x="0" y="128958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2A50E4F-A066-6514-5B31-C3BCDBED06B1}"/>
              </a:ext>
            </a:extLst>
          </p:cNvPr>
          <p:cNvSpPr/>
          <p:nvPr/>
        </p:nvSpPr>
        <p:spPr>
          <a:xfrm flipH="1">
            <a:off x="14972495" y="7296334"/>
            <a:ext cx="5533751" cy="1961966"/>
          </a:xfrm>
          <a:custGeom>
            <a:avLst/>
            <a:gdLst/>
            <a:ahLst/>
            <a:cxnLst/>
            <a:rect l="l" t="t" r="r" b="b"/>
            <a:pathLst>
              <a:path w="5533751" h="1961966">
                <a:moveTo>
                  <a:pt x="5533751" y="0"/>
                </a:moveTo>
                <a:lnTo>
                  <a:pt x="0" y="0"/>
                </a:lnTo>
                <a:lnTo>
                  <a:pt x="0" y="1961966"/>
                </a:lnTo>
                <a:lnTo>
                  <a:pt x="5533751" y="1961966"/>
                </a:lnTo>
                <a:lnTo>
                  <a:pt x="553375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608FE96-BF66-CD14-6E24-A9BE25D55E6F}"/>
              </a:ext>
            </a:extLst>
          </p:cNvPr>
          <p:cNvSpPr/>
          <p:nvPr/>
        </p:nvSpPr>
        <p:spPr>
          <a:xfrm>
            <a:off x="-2218246" y="7296334"/>
            <a:ext cx="5533751" cy="1961966"/>
          </a:xfrm>
          <a:custGeom>
            <a:avLst/>
            <a:gdLst/>
            <a:ahLst/>
            <a:cxnLst/>
            <a:rect l="l" t="t" r="r" b="b"/>
            <a:pathLst>
              <a:path w="5533751" h="1961966">
                <a:moveTo>
                  <a:pt x="0" y="0"/>
                </a:moveTo>
                <a:lnTo>
                  <a:pt x="5533751" y="0"/>
                </a:lnTo>
                <a:lnTo>
                  <a:pt x="5533751" y="1961966"/>
                </a:lnTo>
                <a:lnTo>
                  <a:pt x="0" y="1961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3AF44C-6ED3-98C8-4F9C-5555C7F77891}"/>
              </a:ext>
            </a:extLst>
          </p:cNvPr>
          <p:cNvSpPr txBox="1"/>
          <p:nvPr/>
        </p:nvSpPr>
        <p:spPr>
          <a:xfrm>
            <a:off x="2914504" y="172849"/>
            <a:ext cx="12404600" cy="2312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391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Comprehension about Seasonality Modeling – s(t) </a:t>
            </a:r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E42A37B-2C8B-E432-DB82-05EEF5BD8D3A}"/>
              </a:ext>
            </a:extLst>
          </p:cNvPr>
          <p:cNvSpPr/>
          <p:nvPr/>
        </p:nvSpPr>
        <p:spPr>
          <a:xfrm>
            <a:off x="16793505" y="3742304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51330FDF-89B7-23E8-9C57-E0D525027518}"/>
              </a:ext>
            </a:extLst>
          </p:cNvPr>
          <p:cNvSpPr/>
          <p:nvPr/>
        </p:nvSpPr>
        <p:spPr>
          <a:xfrm>
            <a:off x="1009650" y="1281714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B3959A1-2DC4-3CFA-85FF-96AD32846C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706" y="2941328"/>
            <a:ext cx="5275598" cy="5768133"/>
          </a:xfrm>
          <a:prstGeom prst="rect">
            <a:avLst/>
          </a:prstGeom>
        </p:spPr>
      </p:pic>
      <p:sp>
        <p:nvSpPr>
          <p:cNvPr id="22" name="TextBox 10">
            <a:extLst>
              <a:ext uri="{FF2B5EF4-FFF2-40B4-BE49-F238E27FC236}">
                <a16:creationId xmlns:a16="http://schemas.microsoft.com/office/drawing/2014/main" id="{1449A1FF-BC7E-0027-0660-563E172E22F6}"/>
              </a:ext>
            </a:extLst>
          </p:cNvPr>
          <p:cNvSpPr txBox="1"/>
          <p:nvPr/>
        </p:nvSpPr>
        <p:spPr>
          <a:xfrm>
            <a:off x="6325151" y="2755838"/>
            <a:ext cx="9905449" cy="6764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Calibri (Headings)"/>
              </a:rPr>
              <a:t>3. Calculation result</a:t>
            </a:r>
          </a:p>
          <a:p>
            <a:r>
              <a:rPr lang="en-US" sz="2800" dirty="0">
                <a:latin typeface="Calibri (Headings)"/>
              </a:rPr>
              <a:t>Using linear regression:</a:t>
            </a:r>
          </a:p>
          <a:p>
            <a:r>
              <a:rPr lang="en-US" sz="2800" dirty="0">
                <a:latin typeface="Calibri (Headings)"/>
              </a:rPr>
              <a:t>a</a:t>
            </a:r>
            <a:r>
              <a:rPr lang="en-US" sz="28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₁</a:t>
            </a:r>
            <a:r>
              <a:rPr lang="en-US" sz="2800" dirty="0">
                <a:latin typeface="Calibri (Headings)"/>
              </a:rPr>
              <a:t> = 25.39 , b</a:t>
            </a:r>
            <a:r>
              <a:rPr lang="en-US" sz="28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₁</a:t>
            </a:r>
            <a:r>
              <a:rPr lang="en-US" sz="2800" dirty="0">
                <a:latin typeface="Calibri (Headings)"/>
              </a:rPr>
              <a:t> = −77.75</a:t>
            </a:r>
          </a:p>
          <a:p>
            <a:r>
              <a:rPr lang="en-US" sz="2800" dirty="0">
                <a:latin typeface="Calibri (Headings)"/>
              </a:rPr>
              <a:t>So, the </a:t>
            </a:r>
            <a:r>
              <a:rPr lang="en-US" sz="2800" b="1" dirty="0">
                <a:latin typeface="Calibri (Headings)"/>
              </a:rPr>
              <a:t>seasonal function</a:t>
            </a:r>
            <a:r>
              <a:rPr lang="en-US" sz="2800" dirty="0">
                <a:latin typeface="Calibri (Headings)"/>
              </a:rPr>
              <a:t> is:</a:t>
            </a:r>
          </a:p>
          <a:p>
            <a:endParaRPr lang="en-US" sz="2800" dirty="0">
              <a:latin typeface="Calibri (Headings)"/>
            </a:endParaRPr>
          </a:p>
          <a:p>
            <a:endParaRPr lang="en-US" sz="2800" dirty="0">
              <a:latin typeface="Calibri (Headings)"/>
            </a:endParaRPr>
          </a:p>
          <a:p>
            <a:endParaRPr lang="en-US" sz="2800" dirty="0">
              <a:latin typeface="Calibri (Headings)"/>
            </a:endParaRPr>
          </a:p>
          <a:p>
            <a:r>
              <a:rPr lang="en-US" sz="2800" dirty="0">
                <a:latin typeface="Calibri (Headings)"/>
              </a:rPr>
              <a:t>4: Compute Loss (SSE)</a:t>
            </a:r>
          </a:p>
          <a:p>
            <a:endParaRPr lang="en-US" sz="2800" dirty="0">
              <a:latin typeface="Calibri (Headings)"/>
            </a:endParaRPr>
          </a:p>
          <a:p>
            <a:endParaRPr lang="en-US" sz="2519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  <a:p>
            <a:endParaRPr lang="en-US" sz="2519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  <a:p>
            <a:r>
              <a:rPr lang="en-US" sz="2800" dirty="0">
                <a:latin typeface="Calibri (Headings)"/>
              </a:rPr>
              <a:t>This is the </a:t>
            </a:r>
            <a:r>
              <a:rPr lang="en-US" sz="2800" b="1" dirty="0">
                <a:latin typeface="Calibri (Headings)"/>
              </a:rPr>
              <a:t>minimum error</a:t>
            </a:r>
            <a:r>
              <a:rPr lang="en-US" sz="2800" dirty="0">
                <a:latin typeface="Calibri (Headings)"/>
              </a:rPr>
              <a:t> Prophet can reach using the two parameters </a:t>
            </a:r>
            <a:r>
              <a:rPr lang="en-US" sz="2400" dirty="0">
                <a:latin typeface="Calibri (Headings)"/>
              </a:rPr>
              <a:t>a</a:t>
            </a:r>
            <a:r>
              <a:rPr lang="en-US" sz="24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₁</a:t>
            </a:r>
            <a:r>
              <a:rPr lang="en-US" sz="2400" dirty="0">
                <a:latin typeface="Calibri (Headings)"/>
              </a:rPr>
              <a:t> and b</a:t>
            </a:r>
            <a:r>
              <a:rPr lang="en-US" sz="24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₁.</a:t>
            </a:r>
          </a:p>
          <a:p>
            <a:r>
              <a:rPr lang="en-US" sz="2800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If more harmonics are added (N=2,3,…), Prophet will have more parameters → more complex seasonal path → loss decreases.</a:t>
            </a:r>
          </a:p>
          <a:p>
            <a:r>
              <a:rPr lang="en-US" sz="2800" b="1" dirty="0"/>
              <a:t>N</a:t>
            </a:r>
            <a:r>
              <a:rPr lang="en-US" sz="2800" dirty="0"/>
              <a:t> = number of seasonal waves (pairs of sine and cosine).</a:t>
            </a:r>
            <a:endParaRPr lang="en-US" sz="2519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365EB-FA9A-C5A0-9355-B206A5F316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5151" y="4560410"/>
            <a:ext cx="4835421" cy="11225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B9C116-706A-C7B1-7291-3CAD9F90B9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5151" y="6179913"/>
            <a:ext cx="4266144" cy="1133576"/>
          </a:xfrm>
          <a:prstGeom prst="rect">
            <a:avLst/>
          </a:prstGeom>
        </p:spPr>
      </p:pic>
      <p:sp>
        <p:nvSpPr>
          <p:cNvPr id="3" name="Freeform 22"/>
          <p:cNvSpPr/>
          <p:nvPr/>
        </p:nvSpPr>
        <p:spPr>
          <a:xfrm>
            <a:off x="15306937" y="884055"/>
            <a:ext cx="740234" cy="1109342"/>
          </a:xfrm>
          <a:custGeom>
            <a:avLst/>
            <a:gdLst/>
            <a:ahLst/>
            <a:cxnLst/>
            <a:rect l="l" t="t" r="r" b="b"/>
            <a:pathLst>
              <a:path w="986978" h="1479123">
                <a:moveTo>
                  <a:pt x="0" y="0"/>
                </a:moveTo>
                <a:lnTo>
                  <a:pt x="986979" y="0"/>
                </a:lnTo>
                <a:lnTo>
                  <a:pt x="986979" y="1479122"/>
                </a:lnTo>
                <a:lnTo>
                  <a:pt x="0" y="1479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24968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5"/>
          <p:cNvSpPr/>
          <p:nvPr/>
        </p:nvSpPr>
        <p:spPr>
          <a:xfrm>
            <a:off x="-2743200" y="9202863"/>
            <a:ext cx="4585506" cy="1625770"/>
          </a:xfrm>
          <a:custGeom>
            <a:avLst/>
            <a:gdLst/>
            <a:ahLst/>
            <a:cxnLst/>
            <a:rect l="l" t="t" r="r" b="b"/>
            <a:pathLst>
              <a:path w="4585506" h="1625770">
                <a:moveTo>
                  <a:pt x="0" y="0"/>
                </a:moveTo>
                <a:lnTo>
                  <a:pt x="4585506" y="0"/>
                </a:lnTo>
                <a:lnTo>
                  <a:pt x="4585506" y="1625770"/>
                </a:lnTo>
                <a:lnTo>
                  <a:pt x="0" y="1625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25822" y="541633"/>
            <a:ext cx="16436355" cy="2281542"/>
            <a:chOff x="0" y="0"/>
            <a:chExt cx="5996027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96027" cy="695693"/>
            </a:xfrm>
            <a:custGeom>
              <a:avLst/>
              <a:gdLst/>
              <a:ahLst/>
              <a:cxnLst/>
              <a:rect l="l" t="t" r="r" b="b"/>
              <a:pathLst>
                <a:path w="5996027" h="695693">
                  <a:moveTo>
                    <a:pt x="0" y="0"/>
                  </a:moveTo>
                  <a:lnTo>
                    <a:pt x="5996027" y="0"/>
                  </a:lnTo>
                  <a:lnTo>
                    <a:pt x="5996027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3134084" y="504166"/>
            <a:ext cx="12074226" cy="2333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91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Comprehension about Holiday &amp; Events – h(t) </a:t>
            </a:r>
          </a:p>
        </p:txBody>
      </p:sp>
      <p:sp>
        <p:nvSpPr>
          <p:cNvPr id="24" name="Freeform 24"/>
          <p:cNvSpPr/>
          <p:nvPr/>
        </p:nvSpPr>
        <p:spPr>
          <a:xfrm flipH="1">
            <a:off x="15484919" y="8123782"/>
            <a:ext cx="4585506" cy="1625770"/>
          </a:xfrm>
          <a:custGeom>
            <a:avLst/>
            <a:gdLst/>
            <a:ahLst/>
            <a:cxnLst/>
            <a:rect l="l" t="t" r="r" b="b"/>
            <a:pathLst>
              <a:path w="4585506" h="1625770">
                <a:moveTo>
                  <a:pt x="4585506" y="0"/>
                </a:moveTo>
                <a:lnTo>
                  <a:pt x="0" y="0"/>
                </a:lnTo>
                <a:lnTo>
                  <a:pt x="0" y="1625770"/>
                </a:lnTo>
                <a:lnTo>
                  <a:pt x="4585506" y="1625770"/>
                </a:lnTo>
                <a:lnTo>
                  <a:pt x="45855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641794">
            <a:off x="8923192" y="-17882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048823A2-DFEF-CAEA-A445-846360A31B8F}"/>
              </a:ext>
            </a:extLst>
          </p:cNvPr>
          <p:cNvSpPr txBox="1"/>
          <p:nvPr/>
        </p:nvSpPr>
        <p:spPr>
          <a:xfrm>
            <a:off x="1261875" y="3478837"/>
            <a:ext cx="7438530" cy="592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800" dirty="0">
                <a:latin typeface="Calibri (Heading)"/>
              </a:rPr>
              <a:t>In Prophet, </a:t>
            </a:r>
            <a:r>
              <a:rPr lang="en-US" sz="2800" b="1" dirty="0">
                <a:latin typeface="Calibri (Heading)"/>
              </a:rPr>
              <a:t>h(t)</a:t>
            </a:r>
            <a:r>
              <a:rPr lang="en-US" sz="2800" dirty="0">
                <a:latin typeface="Calibri (Heading)"/>
              </a:rPr>
              <a:t> represents the </a:t>
            </a:r>
            <a:r>
              <a:rPr lang="en-US" sz="2800" b="1" dirty="0">
                <a:latin typeface="Calibri (Heading)"/>
              </a:rPr>
              <a:t>effect of holidays or special events</a:t>
            </a:r>
            <a:r>
              <a:rPr lang="en-US" sz="2800" dirty="0">
                <a:latin typeface="Calibri (Heading)"/>
              </a:rPr>
              <a:t> on the forecast.</a:t>
            </a:r>
          </a:p>
          <a:p>
            <a:pPr algn="l">
              <a:lnSpc>
                <a:spcPts val="3275"/>
              </a:lnSpc>
            </a:pPr>
            <a:endParaRPr lang="en-US" sz="2800" dirty="0">
              <a:latin typeface="Calibri (Heading)"/>
            </a:endParaRPr>
          </a:p>
          <a:p>
            <a:pPr algn="l">
              <a:lnSpc>
                <a:spcPts val="3275"/>
              </a:lnSpc>
            </a:pPr>
            <a:endParaRPr lang="en-US" sz="2800" dirty="0">
              <a:latin typeface="Calibri (Heading)"/>
            </a:endParaRPr>
          </a:p>
          <a:p>
            <a:pPr algn="l">
              <a:lnSpc>
                <a:spcPts val="3275"/>
              </a:lnSpc>
            </a:pPr>
            <a:endParaRPr lang="en-US" sz="2800" dirty="0">
              <a:latin typeface="Calibri (Heading)"/>
            </a:endParaRPr>
          </a:p>
          <a:p>
            <a:pPr algn="l">
              <a:lnSpc>
                <a:spcPts val="3275"/>
              </a:lnSpc>
            </a:pPr>
            <a:r>
              <a:rPr lang="en-US" sz="2800" dirty="0">
                <a:solidFill>
                  <a:srgbClr val="202020"/>
                </a:solidFill>
                <a:latin typeface="Calibri (Heading)"/>
                <a:ea typeface="Telegraf"/>
                <a:cs typeface="Telegraf"/>
                <a:sym typeface="Telegraf"/>
              </a:rPr>
              <a:t>Where:</a:t>
            </a:r>
          </a:p>
          <a:p>
            <a:pPr algn="l">
              <a:lnSpc>
                <a:spcPts val="3275"/>
              </a:lnSpc>
            </a:pPr>
            <a:r>
              <a:rPr lang="en-US" sz="2800" b="1" dirty="0">
                <a:latin typeface="Calibri (Heading)"/>
              </a:rPr>
              <a:t>L</a:t>
            </a:r>
            <a:r>
              <a:rPr lang="en-US" sz="2800" dirty="0">
                <a:latin typeface="Calibri (Heading)"/>
              </a:rPr>
              <a:t> – number of holidays or events.</a:t>
            </a:r>
          </a:p>
          <a:p>
            <a:pPr algn="l">
              <a:lnSpc>
                <a:spcPts val="3275"/>
              </a:lnSpc>
            </a:pPr>
            <a:r>
              <a:rPr lang="en-US" sz="2800" b="1" dirty="0">
                <a:latin typeface="Calibri (Heading)"/>
              </a:rPr>
              <a:t>Dᵢ(t)</a:t>
            </a:r>
            <a:r>
              <a:rPr lang="en-US" sz="2800" dirty="0">
                <a:latin typeface="Calibri (Heading)"/>
              </a:rPr>
              <a:t> – dummy variable:</a:t>
            </a:r>
          </a:p>
          <a:p>
            <a:pPr algn="l">
              <a:lnSpc>
                <a:spcPts val="3275"/>
              </a:lnSpc>
            </a:pPr>
            <a:r>
              <a:rPr lang="en-US" sz="2800" dirty="0">
                <a:latin typeface="Calibri (Heading)"/>
              </a:rPr>
              <a:t>+ Dᵢ(t) = 1 if time </a:t>
            </a:r>
            <a:r>
              <a:rPr lang="en-US" sz="2800" i="1" dirty="0">
                <a:latin typeface="Calibri (Heading)"/>
              </a:rPr>
              <a:t>t</a:t>
            </a:r>
            <a:r>
              <a:rPr lang="en-US" sz="2800" dirty="0">
                <a:latin typeface="Calibri (Heading)"/>
              </a:rPr>
              <a:t> is within event </a:t>
            </a:r>
            <a:r>
              <a:rPr lang="en-US" sz="2800" i="1" dirty="0" err="1">
                <a:latin typeface="Calibri (Heading)"/>
              </a:rPr>
              <a:t>i</a:t>
            </a:r>
            <a:r>
              <a:rPr lang="en-US" sz="2800" dirty="0">
                <a:latin typeface="Calibri (Heading)"/>
              </a:rPr>
              <a:t>,</a:t>
            </a:r>
          </a:p>
          <a:p>
            <a:pPr algn="l">
              <a:lnSpc>
                <a:spcPts val="3275"/>
              </a:lnSpc>
            </a:pPr>
            <a:r>
              <a:rPr lang="en-US" sz="2800" dirty="0">
                <a:latin typeface="Calibri (Heading)"/>
              </a:rPr>
              <a:t>+ Dᵢ(t) = 0 otherwise.</a:t>
            </a:r>
          </a:p>
          <a:p>
            <a:pPr algn="l">
              <a:lnSpc>
                <a:spcPts val="3275"/>
              </a:lnSpc>
            </a:pPr>
            <a:r>
              <a:rPr lang="en-US" sz="2800" b="1" dirty="0">
                <a:latin typeface="Calibri (Heading)"/>
              </a:rPr>
              <a:t>δᵢ</a:t>
            </a:r>
            <a:r>
              <a:rPr lang="en-US" sz="2800" dirty="0">
                <a:latin typeface="Calibri (Heading)"/>
              </a:rPr>
              <a:t> – the estimated impact of event </a:t>
            </a:r>
            <a:r>
              <a:rPr lang="en-US" sz="2800" i="1" dirty="0" err="1">
                <a:latin typeface="Calibri (Heading)"/>
              </a:rPr>
              <a:t>i</a:t>
            </a:r>
            <a:r>
              <a:rPr lang="en-US" sz="2800" dirty="0">
                <a:latin typeface="Calibri (Heading)"/>
              </a:rPr>
              <a:t> on </a:t>
            </a:r>
            <a:r>
              <a:rPr lang="en-US" sz="2800" i="1" dirty="0">
                <a:latin typeface="Calibri (Heading)"/>
              </a:rPr>
              <a:t>y(t)</a:t>
            </a:r>
            <a:r>
              <a:rPr lang="en-US" sz="2800" dirty="0">
                <a:latin typeface="Calibri (Heading)"/>
              </a:rPr>
              <a:t>, learned by Bayesian regression.</a:t>
            </a:r>
          </a:p>
          <a:p>
            <a:pPr algn="l">
              <a:lnSpc>
                <a:spcPts val="3275"/>
              </a:lnSpc>
            </a:pPr>
            <a:r>
              <a:rPr lang="en-US" sz="2800" dirty="0">
                <a:latin typeface="Calibri (Heading)"/>
              </a:rPr>
              <a:t>+ If δᵢ &gt; 0 → the event increases </a:t>
            </a:r>
            <a:r>
              <a:rPr lang="en-US" sz="2800" i="1" dirty="0">
                <a:latin typeface="Calibri (Heading)"/>
              </a:rPr>
              <a:t>y(t)</a:t>
            </a:r>
            <a:r>
              <a:rPr lang="en-US" sz="2800" dirty="0">
                <a:latin typeface="Calibri (Heading)"/>
              </a:rPr>
              <a:t>.</a:t>
            </a:r>
          </a:p>
          <a:p>
            <a:pPr algn="l">
              <a:lnSpc>
                <a:spcPts val="3275"/>
              </a:lnSpc>
            </a:pPr>
            <a:r>
              <a:rPr lang="en-US" sz="2800" dirty="0">
                <a:latin typeface="Calibri (Heading)"/>
              </a:rPr>
              <a:t>+ If δᵢ &lt; 0 → the event decreases </a:t>
            </a:r>
            <a:r>
              <a:rPr lang="en-US" sz="2800" i="1" dirty="0">
                <a:latin typeface="Calibri (Heading)"/>
              </a:rPr>
              <a:t>y(t)</a:t>
            </a:r>
            <a:r>
              <a:rPr lang="en-US" sz="2800" dirty="0">
                <a:latin typeface="Calibri (Heading)"/>
              </a:rPr>
              <a:t>.</a:t>
            </a:r>
            <a:endParaRPr lang="en-US" sz="2519" dirty="0">
              <a:solidFill>
                <a:srgbClr val="202020"/>
              </a:solidFill>
              <a:latin typeface="Calibri (Heading)"/>
              <a:ea typeface="Telegraf"/>
              <a:cs typeface="Telegraf"/>
              <a:sym typeface="Telegraf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367CA2-EC1F-364F-0997-0F5F32802B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4459514"/>
            <a:ext cx="3494573" cy="1266382"/>
          </a:xfrm>
          <a:prstGeom prst="rect">
            <a:avLst/>
          </a:prstGeom>
        </p:spPr>
      </p:pic>
      <p:sp>
        <p:nvSpPr>
          <p:cNvPr id="35" name="TextBox 10">
            <a:extLst>
              <a:ext uri="{FF2B5EF4-FFF2-40B4-BE49-F238E27FC236}">
                <a16:creationId xmlns:a16="http://schemas.microsoft.com/office/drawing/2014/main" id="{EDD214CD-8639-5E5D-8148-2FF4B0D2E35C}"/>
              </a:ext>
            </a:extLst>
          </p:cNvPr>
          <p:cNvSpPr txBox="1"/>
          <p:nvPr/>
        </p:nvSpPr>
        <p:spPr>
          <a:xfrm>
            <a:off x="9587595" y="3478837"/>
            <a:ext cx="7438530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Calibri (Heading)"/>
              </a:rPr>
              <a:t>Example</a:t>
            </a:r>
          </a:p>
          <a:p>
            <a:r>
              <a:rPr lang="en-US" sz="2800" dirty="0">
                <a:latin typeface="Calibri (Heading)"/>
              </a:rPr>
              <a:t>Suppose there are 12 months with </a:t>
            </a:r>
            <a:r>
              <a:rPr lang="en-US" sz="2800" b="1" dirty="0">
                <a:latin typeface="Calibri (Heading)"/>
              </a:rPr>
              <a:t>two events</a:t>
            </a:r>
            <a:r>
              <a:rPr lang="en-US" sz="2800" dirty="0">
                <a:latin typeface="Calibri (Heading)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 (Heading)"/>
              </a:rPr>
              <a:t> January:</a:t>
            </a:r>
            <a:r>
              <a:rPr lang="en-US" sz="2800" dirty="0">
                <a:latin typeface="Calibri (Heading)"/>
              </a:rPr>
              <a:t> New Year → increases by 20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 (Heading)"/>
              </a:rPr>
              <a:t> August:</a:t>
            </a:r>
            <a:r>
              <a:rPr lang="en-US" sz="2800" dirty="0">
                <a:latin typeface="Calibri (Heading)"/>
              </a:rPr>
              <a:t> Trade Fair → increases by 15</a:t>
            </a:r>
          </a:p>
          <a:p>
            <a:r>
              <a:rPr lang="en-US" sz="2800" dirty="0">
                <a:latin typeface="Calibri (Heading)"/>
              </a:rPr>
              <a:t>Then:</a:t>
            </a:r>
          </a:p>
          <a:p>
            <a:endParaRPr lang="en-US" sz="2800" dirty="0">
              <a:latin typeface="Calibri (Heading)"/>
            </a:endParaRPr>
          </a:p>
          <a:p>
            <a:endParaRPr lang="en-US" sz="2800" dirty="0">
              <a:latin typeface="Calibri (Heading)"/>
            </a:endParaRPr>
          </a:p>
          <a:p>
            <a:endParaRPr lang="en-US" sz="2800" dirty="0">
              <a:latin typeface="Calibri (Heading)"/>
            </a:endParaRPr>
          </a:p>
          <a:p>
            <a:r>
              <a:rPr lang="en-US" sz="2800" dirty="0">
                <a:latin typeface="Calibri (Heading)"/>
              </a:rPr>
              <a:t>With </a:t>
            </a:r>
            <a:r>
              <a:rPr lang="el-GR" sz="2800" dirty="0">
                <a:latin typeface="Calibri (Heading)"/>
              </a:rPr>
              <a:t>δ₁ = 20 </a:t>
            </a:r>
            <a:r>
              <a:rPr lang="en-US" sz="2800" dirty="0">
                <a:latin typeface="Calibri (Heading)"/>
              </a:rPr>
              <a:t>and </a:t>
            </a:r>
            <a:r>
              <a:rPr lang="el-GR" sz="2800" dirty="0">
                <a:latin typeface="Calibri (Heading)"/>
              </a:rPr>
              <a:t>δ₂ = 15, </a:t>
            </a:r>
            <a:r>
              <a:rPr lang="en-US" sz="2800" dirty="0">
                <a:latin typeface="Calibri (Heading)"/>
              </a:rPr>
              <a:t>we have:</a:t>
            </a:r>
          </a:p>
          <a:p>
            <a:endParaRPr lang="en-US" sz="2800" dirty="0">
              <a:latin typeface="Calibri (Heading)"/>
            </a:endParaRPr>
          </a:p>
          <a:p>
            <a:endParaRPr lang="en-US" sz="2800" dirty="0">
              <a:latin typeface="Calibri (Heading)"/>
            </a:endParaRPr>
          </a:p>
          <a:p>
            <a:r>
              <a:rPr lang="en-US" sz="2800" dirty="0">
                <a:latin typeface="Calibri (Heading)"/>
              </a:rPr>
              <a:t>When t = 1 → h(1) = 20</a:t>
            </a:r>
          </a:p>
          <a:p>
            <a:r>
              <a:rPr lang="en-US" sz="2800" dirty="0">
                <a:latin typeface="Calibri (Heading)"/>
              </a:rPr>
              <a:t>When t = 8 → h(8) = 15</a:t>
            </a:r>
          </a:p>
          <a:p>
            <a:r>
              <a:rPr lang="en-US" sz="2800" dirty="0">
                <a:latin typeface="Calibri (Heading)"/>
              </a:rPr>
              <a:t>For other months → h(t) = 0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464B343-C67E-3F04-6895-88165AC303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6600" y="5647882"/>
            <a:ext cx="6304664" cy="1158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C6B7EC8-6021-60CE-5327-C15C752369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53060" y="7447542"/>
            <a:ext cx="4568660" cy="667169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14048932" y="988156"/>
            <a:ext cx="1903745" cy="1589019"/>
            <a:chOff x="0" y="0"/>
            <a:chExt cx="2538326" cy="2118692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538326" cy="2118692"/>
              <a:chOff x="0" y="0"/>
              <a:chExt cx="694491" cy="57967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94491" cy="579678"/>
              </a:xfrm>
              <a:custGeom>
                <a:avLst/>
                <a:gdLst/>
                <a:ahLst/>
                <a:cxnLst/>
                <a:rect l="l" t="t" r="r" b="b"/>
                <a:pathLst>
                  <a:path w="694491" h="579678">
                    <a:moveTo>
                      <a:pt x="0" y="0"/>
                    </a:moveTo>
                    <a:lnTo>
                      <a:pt x="694491" y="0"/>
                    </a:lnTo>
                    <a:lnTo>
                      <a:pt x="694491" y="579678"/>
                    </a:lnTo>
                    <a:lnTo>
                      <a:pt x="0" y="57967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18" name="Freeform 18"/>
            <p:cNvSpPr/>
            <p:nvPr/>
          </p:nvSpPr>
          <p:spPr>
            <a:xfrm>
              <a:off x="495450" y="260744"/>
              <a:ext cx="1547426" cy="1516477"/>
            </a:xfrm>
            <a:custGeom>
              <a:avLst/>
              <a:gdLst/>
              <a:ahLst/>
              <a:cxnLst/>
              <a:rect l="l" t="t" r="r" b="b"/>
              <a:pathLst>
                <a:path w="1547426" h="1516477">
                  <a:moveTo>
                    <a:pt x="0" y="0"/>
                  </a:moveTo>
                  <a:lnTo>
                    <a:pt x="1547426" y="0"/>
                  </a:lnTo>
                  <a:lnTo>
                    <a:pt x="1547426" y="1516477"/>
                  </a:lnTo>
                  <a:lnTo>
                    <a:pt x="0" y="1516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5" y="354737"/>
            <a:ext cx="16439375" cy="2045563"/>
            <a:chOff x="0" y="0"/>
            <a:chExt cx="5997128" cy="7462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97129" cy="746227"/>
            </a:xfrm>
            <a:custGeom>
              <a:avLst/>
              <a:gdLst/>
              <a:ahLst/>
              <a:cxnLst/>
              <a:rect l="l" t="t" r="r" b="b"/>
              <a:pathLst>
                <a:path w="5997129" h="746227">
                  <a:moveTo>
                    <a:pt x="0" y="0"/>
                  </a:moveTo>
                  <a:lnTo>
                    <a:pt x="5997129" y="0"/>
                  </a:lnTo>
                  <a:lnTo>
                    <a:pt x="5997129" y="746227"/>
                  </a:lnTo>
                  <a:lnTo>
                    <a:pt x="0" y="74622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1989663" y="8797919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702764" y="8942224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>
                <a:moveTo>
                  <a:pt x="0" y="0"/>
                </a:moveTo>
                <a:lnTo>
                  <a:pt x="573798" y="0"/>
                </a:lnTo>
                <a:lnTo>
                  <a:pt x="573798" y="822649"/>
                </a:lnTo>
                <a:lnTo>
                  <a:pt x="0" y="8226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318882" y="-411324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>
                <a:moveTo>
                  <a:pt x="0" y="0"/>
                </a:moveTo>
                <a:lnTo>
                  <a:pt x="573798" y="0"/>
                </a:lnTo>
                <a:lnTo>
                  <a:pt x="573798" y="822648"/>
                </a:lnTo>
                <a:lnTo>
                  <a:pt x="0" y="8226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08297" y="158885"/>
            <a:ext cx="3927179" cy="1392364"/>
          </a:xfrm>
          <a:custGeom>
            <a:avLst/>
            <a:gdLst/>
            <a:ahLst/>
            <a:cxnLst/>
            <a:rect l="l" t="t" r="r" b="b"/>
            <a:pathLst>
              <a:path w="3927179" h="1392364">
                <a:moveTo>
                  <a:pt x="0" y="0"/>
                </a:moveTo>
                <a:lnTo>
                  <a:pt x="3927179" y="0"/>
                </a:lnTo>
                <a:lnTo>
                  <a:pt x="3927179" y="1392363"/>
                </a:lnTo>
                <a:lnTo>
                  <a:pt x="0" y="1392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46217" y="586944"/>
            <a:ext cx="13395565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How The Model Works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7674" y="3049799"/>
            <a:ext cx="15795020" cy="5344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21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Step 1: </a:t>
            </a:r>
            <a:r>
              <a:rPr lang="en-US" sz="2100" b="1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Data Preparation</a:t>
            </a:r>
          </a:p>
          <a:p>
            <a:pPr algn="l">
              <a:lnSpc>
                <a:spcPts val="4680"/>
              </a:lnSpc>
            </a:pPr>
            <a:r>
              <a:rPr lang="en-US" sz="21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Prophet needs two main columns:</a:t>
            </a:r>
          </a:p>
          <a:p>
            <a:pPr marL="777240" lvl="1" indent="-388620" algn="l">
              <a:lnSpc>
                <a:spcPts val="4680"/>
              </a:lnSpc>
              <a:buFont typeface="Arial"/>
              <a:buChar char="•"/>
            </a:pPr>
            <a:r>
              <a:rPr lang="en-US" sz="21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ds: the date or time column</a:t>
            </a:r>
          </a:p>
          <a:p>
            <a:pPr marL="777240" lvl="1" indent="-388620" algn="l">
              <a:lnSpc>
                <a:spcPts val="4680"/>
              </a:lnSpc>
              <a:buFont typeface="Arial"/>
              <a:buChar char="•"/>
            </a:pPr>
            <a:r>
              <a:rPr lang="en-US" sz="21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y: the value we want to predict (for example: export value)</a:t>
            </a:r>
          </a:p>
          <a:p>
            <a:pPr algn="l">
              <a:lnSpc>
                <a:spcPts val="4680"/>
              </a:lnSpc>
            </a:pPr>
            <a:r>
              <a:rPr lang="en-US" sz="2100" dirty="0">
                <a:solidFill>
                  <a:srgbClr val="202020"/>
                </a:solidFill>
                <a:latin typeface="Calibri (Headings)"/>
                <a:ea typeface="Telegraf"/>
                <a:cs typeface="Telegraf"/>
                <a:sym typeface="Telegraf"/>
              </a:rPr>
              <a:t>The data should be in time order. Prophet can still work even if some months are missing.</a:t>
            </a:r>
          </a:p>
          <a:p>
            <a:pPr algn="l">
              <a:lnSpc>
                <a:spcPts val="4680"/>
              </a:lnSpc>
            </a:pPr>
            <a:endParaRPr lang="en-US" sz="2100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  <a:p>
            <a:pPr algn="l">
              <a:lnSpc>
                <a:spcPts val="4680"/>
              </a:lnSpc>
            </a:pPr>
            <a:r>
              <a:rPr lang="en-US" sz="21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Step 2: </a:t>
            </a:r>
            <a:r>
              <a:rPr lang="en-US" sz="2100" b="1" dirty="0"/>
              <a:t>Fit the Prophet Model</a:t>
            </a:r>
          </a:p>
          <a:p>
            <a:pPr algn="l">
              <a:lnSpc>
                <a:spcPts val="4680"/>
              </a:lnSpc>
            </a:pPr>
            <a:r>
              <a:rPr lang="en-US" sz="2100" dirty="0"/>
              <a:t>Create the model and fit it to your data:</a:t>
            </a:r>
          </a:p>
          <a:p>
            <a:pPr algn="l">
              <a:lnSpc>
                <a:spcPts val="4680"/>
              </a:lnSpc>
            </a:pPr>
            <a:r>
              <a:rPr lang="en-US" sz="2100" dirty="0"/>
              <a:t>This step helps Prophet learn the pattern and trend in your data.</a:t>
            </a:r>
            <a:endParaRPr lang="en-US" sz="2100" dirty="0">
              <a:solidFill>
                <a:srgbClr val="202020"/>
              </a:solidFill>
              <a:latin typeface="Calibri (Headings)"/>
              <a:ea typeface="Telegraf"/>
              <a:cs typeface="Telegraf"/>
              <a:sym typeface="Telegraf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8EC73C-5A28-D3B4-D5DD-250A27832A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6432309"/>
            <a:ext cx="4184728" cy="34999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21377" y="400697"/>
            <a:ext cx="16445245" cy="1906519"/>
            <a:chOff x="0" y="0"/>
            <a:chExt cx="5999270" cy="6955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039600" y="2900551"/>
            <a:ext cx="8753625" cy="5768744"/>
            <a:chOff x="0" y="0"/>
            <a:chExt cx="2818022" cy="21044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8022" cy="2104453"/>
            </a:xfrm>
            <a:custGeom>
              <a:avLst/>
              <a:gdLst/>
              <a:ahLst/>
              <a:cxnLst/>
              <a:rect l="l" t="t" r="r" b="b"/>
              <a:pathLst>
                <a:path w="2818022" h="2104453">
                  <a:moveTo>
                    <a:pt x="0" y="0"/>
                  </a:moveTo>
                  <a:lnTo>
                    <a:pt x="2818022" y="0"/>
                  </a:lnTo>
                  <a:lnTo>
                    <a:pt x="2818022" y="2104453"/>
                  </a:lnTo>
                  <a:lnTo>
                    <a:pt x="0" y="21044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2192000" y="3531318"/>
            <a:ext cx="5778474" cy="4507210"/>
          </a:xfrm>
          <a:custGeom>
            <a:avLst/>
            <a:gdLst/>
            <a:ahLst/>
            <a:cxnLst/>
            <a:rect l="l" t="t" r="r" b="b"/>
            <a:pathLst>
              <a:path w="5778474" h="4507210">
                <a:moveTo>
                  <a:pt x="0" y="0"/>
                </a:moveTo>
                <a:lnTo>
                  <a:pt x="5778474" y="0"/>
                </a:lnTo>
                <a:lnTo>
                  <a:pt x="5778474" y="4507210"/>
                </a:lnTo>
                <a:lnTo>
                  <a:pt x="0" y="4507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03414">
            <a:off x="16137868" y="4585735"/>
            <a:ext cx="417336" cy="598331"/>
          </a:xfrm>
          <a:custGeom>
            <a:avLst/>
            <a:gdLst/>
            <a:ahLst/>
            <a:cxnLst/>
            <a:rect l="l" t="t" r="r" b="b"/>
            <a:pathLst>
              <a:path w="417336" h="598331">
                <a:moveTo>
                  <a:pt x="0" y="0"/>
                </a:moveTo>
                <a:lnTo>
                  <a:pt x="417336" y="0"/>
                </a:lnTo>
                <a:lnTo>
                  <a:pt x="417336" y="598330"/>
                </a:lnTo>
                <a:lnTo>
                  <a:pt x="0" y="598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9908900" y="3235000"/>
            <a:ext cx="121908" cy="121908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055579" y="7995212"/>
            <a:ext cx="121908" cy="121908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2395790" y="590348"/>
            <a:ext cx="134964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How The Model Works</a:t>
            </a:r>
          </a:p>
        </p:txBody>
      </p:sp>
      <p:sp>
        <p:nvSpPr>
          <p:cNvPr id="16" name="Freeform 16"/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203414">
            <a:off x="11489227" y="4583034"/>
            <a:ext cx="321948" cy="461574"/>
          </a:xfrm>
          <a:custGeom>
            <a:avLst/>
            <a:gdLst/>
            <a:ahLst/>
            <a:cxnLst/>
            <a:rect l="l" t="t" r="r" b="b"/>
            <a:pathLst>
              <a:path w="321948" h="461574">
                <a:moveTo>
                  <a:pt x="0" y="0"/>
                </a:moveTo>
                <a:lnTo>
                  <a:pt x="321948" y="0"/>
                </a:lnTo>
                <a:lnTo>
                  <a:pt x="321948" y="461575"/>
                </a:lnTo>
                <a:lnTo>
                  <a:pt x="0" y="4615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278358">
            <a:off x="13186236" y="8430575"/>
            <a:ext cx="5868613" cy="1845945"/>
          </a:xfrm>
          <a:custGeom>
            <a:avLst/>
            <a:gdLst/>
            <a:ahLst/>
            <a:cxnLst/>
            <a:rect l="l" t="t" r="r" b="b"/>
            <a:pathLst>
              <a:path w="5868613" h="1845945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6B92FBC9-4ADB-73E5-BB65-B6D4091C0041}"/>
              </a:ext>
            </a:extLst>
          </p:cNvPr>
          <p:cNvSpPr txBox="1"/>
          <p:nvPr/>
        </p:nvSpPr>
        <p:spPr>
          <a:xfrm>
            <a:off x="1173544" y="2496867"/>
            <a:ext cx="11270118" cy="84214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100" b="1" dirty="0">
                <a:solidFill>
                  <a:srgbClr val="202020"/>
                </a:solidFill>
                <a:latin typeface="Calibri (Headings)"/>
                <a:ea typeface="Telegraf Bold"/>
                <a:cs typeface="Telegraf Bold"/>
                <a:sym typeface="Telegraf Bold"/>
              </a:rPr>
              <a:t>Step 3: </a:t>
            </a:r>
            <a:r>
              <a:rPr lang="en-US" sz="2100" b="1" dirty="0"/>
              <a:t>Make Future </a:t>
            </a:r>
            <a:r>
              <a:rPr lang="en-US" sz="2100" b="1" dirty="0" err="1"/>
              <a:t>Dataframe</a:t>
            </a:r>
            <a:br>
              <a:rPr lang="en-US" sz="2100" dirty="0"/>
            </a:br>
            <a:r>
              <a:rPr lang="en-US" sz="2100" dirty="0"/>
              <a:t>Create a new time series for the next 12 months:</a:t>
            </a:r>
          </a:p>
          <a:p>
            <a:pPr algn="l">
              <a:lnSpc>
                <a:spcPts val="3275"/>
              </a:lnSpc>
            </a:pPr>
            <a:endParaRPr lang="en-US" sz="2100" dirty="0">
              <a:latin typeface="+mj-lt"/>
            </a:endParaRPr>
          </a:p>
          <a:p>
            <a:pPr algn="l">
              <a:lnSpc>
                <a:spcPts val="3275"/>
              </a:lnSpc>
            </a:pPr>
            <a:endParaRPr lang="en-US" sz="2100" dirty="0">
              <a:latin typeface="+mj-lt"/>
            </a:endParaRPr>
          </a:p>
          <a:p>
            <a:pPr algn="l">
              <a:lnSpc>
                <a:spcPts val="3275"/>
              </a:lnSpc>
            </a:pPr>
            <a:endParaRPr lang="en-US" sz="2100" dirty="0">
              <a:latin typeface="+mj-lt"/>
            </a:endParaRPr>
          </a:p>
          <a:p>
            <a:r>
              <a:rPr lang="en-US" sz="2100" b="1" dirty="0">
                <a:latin typeface="+mj-lt"/>
              </a:rPr>
              <a:t>Step 4: </a:t>
            </a:r>
            <a:r>
              <a:rPr lang="en-US" sz="2100" b="1" dirty="0"/>
              <a:t>Forecast Future Values</a:t>
            </a:r>
            <a:br>
              <a:rPr lang="en-US" sz="2100" dirty="0"/>
            </a:br>
            <a:r>
              <a:rPr lang="en-US" sz="2100" dirty="0"/>
              <a:t>Predict the export values for the next 12 months:</a:t>
            </a:r>
            <a:br>
              <a:rPr lang="en-US" sz="2100" dirty="0"/>
            </a:br>
            <a:endParaRPr lang="en-US" sz="2100" dirty="0"/>
          </a:p>
          <a:p>
            <a:endParaRPr lang="en-US" sz="2100" dirty="0"/>
          </a:p>
          <a:p>
            <a:endParaRPr lang="en-US" sz="2100" dirty="0"/>
          </a:p>
          <a:p>
            <a:r>
              <a:rPr lang="en-US" sz="2100" dirty="0"/>
              <a:t>Prophet gives three main results:</a:t>
            </a:r>
          </a:p>
          <a:p>
            <a:r>
              <a:rPr lang="en-US" sz="2100" dirty="0" err="1"/>
              <a:t>yhat</a:t>
            </a:r>
            <a:r>
              <a:rPr lang="en-US" sz="2100" dirty="0"/>
              <a:t>: predicted value</a:t>
            </a:r>
          </a:p>
          <a:p>
            <a:r>
              <a:rPr lang="en-US" sz="2100" dirty="0" err="1"/>
              <a:t>yhat_lower</a:t>
            </a:r>
            <a:r>
              <a:rPr lang="en-US" sz="2100" dirty="0"/>
              <a:t>: lower bound of forecast interval</a:t>
            </a:r>
          </a:p>
          <a:p>
            <a:r>
              <a:rPr lang="en-US" sz="2100" dirty="0" err="1"/>
              <a:t>yhat_upper</a:t>
            </a:r>
            <a:r>
              <a:rPr lang="en-US" sz="2100" dirty="0"/>
              <a:t>: upper bound of forecast interval</a:t>
            </a:r>
          </a:p>
          <a:p>
            <a:endParaRPr lang="en-US" sz="2100" dirty="0"/>
          </a:p>
          <a:p>
            <a:r>
              <a:rPr lang="en-US" sz="2100" b="1" dirty="0"/>
              <a:t>Step 5: Visualize the Forecast</a:t>
            </a:r>
          </a:p>
          <a:p>
            <a:r>
              <a:rPr lang="en-US" sz="2100" dirty="0"/>
              <a:t>The black dots show the actual data,</a:t>
            </a:r>
            <a:br>
              <a:rPr lang="en-US" sz="2100" dirty="0"/>
            </a:br>
            <a:r>
              <a:rPr lang="en-US" sz="2100" dirty="0"/>
              <a:t>and the blue area shows the forecast with confidence interval.</a:t>
            </a:r>
          </a:p>
          <a:p>
            <a:endParaRPr lang="en-US" sz="2100" dirty="0"/>
          </a:p>
          <a:p>
            <a:r>
              <a:rPr lang="en-US" sz="2100" b="1" dirty="0"/>
              <a:t>Step 6: Evaluate the Model</a:t>
            </a:r>
            <a:br>
              <a:rPr lang="en-US" sz="2100" dirty="0"/>
            </a:br>
            <a:r>
              <a:rPr lang="en-US" sz="2100" dirty="0"/>
              <a:t>Compare predicted values with real data.</a:t>
            </a:r>
            <a:br>
              <a:rPr lang="en-US" sz="2100" dirty="0"/>
            </a:br>
            <a:r>
              <a:rPr lang="en-US" sz="2100" dirty="0"/>
              <a:t>Use metrics such as </a:t>
            </a:r>
            <a:r>
              <a:rPr lang="en-US" sz="2100" b="1" dirty="0"/>
              <a:t>MAPE</a:t>
            </a:r>
            <a:r>
              <a:rPr lang="en-US" sz="2100" dirty="0"/>
              <a:t> and </a:t>
            </a:r>
            <a:r>
              <a:rPr lang="en-US" sz="2100" b="1" dirty="0"/>
              <a:t>RMSE</a:t>
            </a:r>
            <a:r>
              <a:rPr lang="en-US" sz="2100" dirty="0"/>
              <a:t> to check accuracy.</a:t>
            </a:r>
            <a:endParaRPr lang="en-US" sz="2100" b="1" dirty="0"/>
          </a:p>
          <a:p>
            <a:pPr algn="l">
              <a:lnSpc>
                <a:spcPts val="3275"/>
              </a:lnSpc>
            </a:pPr>
            <a:endParaRPr lang="en-US" sz="2100" dirty="0">
              <a:latin typeface="+mj-lt"/>
            </a:endParaRPr>
          </a:p>
          <a:p>
            <a:pPr algn="l">
              <a:lnSpc>
                <a:spcPts val="3275"/>
              </a:lnSpc>
            </a:pPr>
            <a:endParaRPr lang="en-US" sz="2100" dirty="0">
              <a:solidFill>
                <a:srgbClr val="202020"/>
              </a:solidFill>
              <a:latin typeface="+mj-lt"/>
              <a:ea typeface="Telegraf"/>
              <a:cs typeface="Telegraf"/>
              <a:sym typeface="Telegraf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20424D-6FE0-EE66-3BF2-702C732024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3544" y="3531318"/>
            <a:ext cx="9933192" cy="10496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60A58A-ECF3-37F3-10CA-94B2712DB8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0801" y="5431480"/>
            <a:ext cx="4323449" cy="7472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422" y="-4158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5" y="333044"/>
            <a:ext cx="16444941" cy="934419"/>
            <a:chOff x="0" y="0"/>
            <a:chExt cx="5999159" cy="3408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99159" cy="340879"/>
            </a:xfrm>
            <a:custGeom>
              <a:avLst/>
              <a:gdLst/>
              <a:ahLst/>
              <a:cxnLst/>
              <a:rect l="l" t="t" r="r" b="b"/>
              <a:pathLst>
                <a:path w="5999159" h="340879">
                  <a:moveTo>
                    <a:pt x="0" y="0"/>
                  </a:moveTo>
                  <a:lnTo>
                    <a:pt x="5999159" y="0"/>
                  </a:lnTo>
                  <a:lnTo>
                    <a:pt x="5999159" y="340879"/>
                  </a:lnTo>
                  <a:lnTo>
                    <a:pt x="0" y="34087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68754" y="379490"/>
            <a:ext cx="14750492" cy="82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Parameter of Model</a:t>
            </a:r>
          </a:p>
        </p:txBody>
      </p:sp>
      <p:sp>
        <p:nvSpPr>
          <p:cNvPr id="11" name="Freeform 11"/>
          <p:cNvSpPr/>
          <p:nvPr/>
        </p:nvSpPr>
        <p:spPr>
          <a:xfrm rot="18898671">
            <a:off x="14763538" y="5565795"/>
            <a:ext cx="8270994" cy="3115792"/>
          </a:xfrm>
          <a:custGeom>
            <a:avLst/>
            <a:gdLst/>
            <a:ahLst/>
            <a:cxnLst/>
            <a:rect l="l" t="t" r="r" b="b"/>
            <a:pathLst>
              <a:path w="5868613" h="1845945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609762" y="7735400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43671" y="950893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424CB9-0F98-D9AF-661A-93AE6A0BAE8A}"/>
              </a:ext>
            </a:extLst>
          </p:cNvPr>
          <p:cNvSpPr txBox="1"/>
          <p:nvPr/>
        </p:nvSpPr>
        <p:spPr>
          <a:xfrm>
            <a:off x="838200" y="1488281"/>
            <a:ext cx="8077200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1.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Options:</a:t>
            </a:r>
            <a:r>
              <a:rPr lang="en-US" sz="2100" dirty="0"/>
              <a:t> “linear” or “logistic”.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Meaning:</a:t>
            </a:r>
            <a:r>
              <a:rPr lang="en-US" sz="2100" dirty="0"/>
              <a:t> Controls the overall trend Prophet uses.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b="1" dirty="0"/>
              <a:t>Linear:</a:t>
            </a:r>
            <a:r>
              <a:rPr lang="en-US" sz="2100" dirty="0"/>
              <a:t> The series increases or decreases steadily over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b="1" dirty="0"/>
              <a:t>Logistic:</a:t>
            </a:r>
            <a:r>
              <a:rPr lang="en-US" sz="2100" dirty="0"/>
              <a:t> Growth slows down when reaching a maximum value (saturation).</a:t>
            </a:r>
          </a:p>
          <a:p>
            <a:pPr lvl="1"/>
            <a:endParaRPr lang="en-US" sz="2100" dirty="0"/>
          </a:p>
          <a:p>
            <a:r>
              <a:rPr lang="en-US" sz="2100" b="1" dirty="0"/>
              <a:t>2. </a:t>
            </a:r>
            <a:r>
              <a:rPr lang="en-US" sz="2100" b="1" dirty="0" err="1"/>
              <a:t>Changepoint.Prior.Scale</a:t>
            </a:r>
            <a:endParaRPr lang="en-US" sz="21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Default:</a:t>
            </a:r>
            <a:r>
              <a:rPr lang="en-US" sz="2100" dirty="0"/>
              <a:t> 0.05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Meaning:</a:t>
            </a:r>
            <a:r>
              <a:rPr lang="en-US" sz="2100" dirty="0"/>
              <a:t> Decides how much the trend can change at certain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Effect:</a:t>
            </a:r>
            <a:endParaRPr lang="en-US" sz="2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Small value (e.g., 0.01) → smoother trend, less flexible.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Large value (e.g., 0.5) → more flexible, follows sudden changes.</a:t>
            </a:r>
          </a:p>
          <a:p>
            <a:endParaRPr lang="en-US" sz="2100" b="1" dirty="0"/>
          </a:p>
          <a:p>
            <a:r>
              <a:rPr lang="en-US" sz="2100" b="1" dirty="0"/>
              <a:t>3. </a:t>
            </a:r>
            <a:r>
              <a:rPr lang="en-US" sz="2100" b="1" dirty="0" err="1"/>
              <a:t>Yearly.Seasonality</a:t>
            </a:r>
            <a:endParaRPr lang="en-US" sz="21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Default:</a:t>
            </a:r>
            <a:r>
              <a:rPr lang="en-US" sz="2100" dirty="0"/>
              <a:t> auto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Meaning:</a:t>
            </a:r>
            <a:r>
              <a:rPr lang="en-US" sz="2100" dirty="0"/>
              <a:t> Adds patterns that repeat every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Effect:</a:t>
            </a:r>
            <a:r>
              <a:rPr lang="en-US" sz="2100" dirty="0"/>
              <a:t> Helps model yearly cycles such as monthly export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Tip:</a:t>
            </a:r>
            <a:r>
              <a:rPr lang="en-US" sz="2100" dirty="0"/>
              <a:t> Set </a:t>
            </a:r>
            <a:r>
              <a:rPr lang="en-US" sz="2100" b="1" dirty="0"/>
              <a:t>TRUE</a:t>
            </a:r>
            <a:r>
              <a:rPr lang="en-US" sz="2100" dirty="0"/>
              <a:t> when you have more than two years of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100" dirty="0"/>
          </a:p>
          <a:p>
            <a:r>
              <a:rPr lang="en-US" sz="2100" b="1" dirty="0"/>
              <a:t>4. </a:t>
            </a:r>
            <a:r>
              <a:rPr lang="en-US" sz="2100" b="1" dirty="0" err="1"/>
              <a:t>Weekly.Seasonality</a:t>
            </a:r>
            <a:endParaRPr lang="en-US" sz="21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Default:</a:t>
            </a:r>
            <a:r>
              <a:rPr lang="en-US" sz="2100" dirty="0"/>
              <a:t> auto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Meaning:</a:t>
            </a:r>
            <a:r>
              <a:rPr lang="en-US" sz="2100" dirty="0"/>
              <a:t> Adds patterns that repeat every week.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Use:</a:t>
            </a:r>
            <a:r>
              <a:rPr lang="en-US" sz="2100" dirty="0"/>
              <a:t> Only for </a:t>
            </a:r>
            <a:r>
              <a:rPr lang="en-US" sz="2100" b="1" dirty="0"/>
              <a:t>daily</a:t>
            </a:r>
            <a:r>
              <a:rPr lang="en-US" sz="2100" dirty="0"/>
              <a:t>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Tip:</a:t>
            </a:r>
            <a:r>
              <a:rPr lang="en-US" sz="2100" dirty="0"/>
              <a:t> Set </a:t>
            </a:r>
            <a:r>
              <a:rPr lang="en-US" sz="2100" b="1" dirty="0"/>
              <a:t>FALSE</a:t>
            </a:r>
            <a:r>
              <a:rPr lang="en-US" sz="2100" dirty="0"/>
              <a:t> for monthly or yearly data.</a:t>
            </a:r>
          </a:p>
          <a:p>
            <a:endParaRPr lang="en-US" sz="2100" dirty="0"/>
          </a:p>
          <a:p>
            <a:endParaRPr lang="en-US" sz="2100" dirty="0"/>
          </a:p>
          <a:p>
            <a:pPr lvl="1"/>
            <a:endParaRPr lang="en-US" sz="2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7293D8-52E6-DD99-EE02-D1E7B2C200FE}"/>
              </a:ext>
            </a:extLst>
          </p:cNvPr>
          <p:cNvSpPr txBox="1"/>
          <p:nvPr/>
        </p:nvSpPr>
        <p:spPr>
          <a:xfrm>
            <a:off x="9793514" y="1584034"/>
            <a:ext cx="807720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5. </a:t>
            </a:r>
            <a:r>
              <a:rPr lang="en-US" sz="2100" b="1" dirty="0" err="1"/>
              <a:t>Daily.Seasonality</a:t>
            </a:r>
            <a:endParaRPr lang="en-US" sz="21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Default:</a:t>
            </a:r>
            <a:r>
              <a:rPr lang="en-US" sz="2100" dirty="0"/>
              <a:t> auto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Meaning:</a:t>
            </a:r>
            <a:r>
              <a:rPr lang="en-US" sz="2100" dirty="0"/>
              <a:t> Adds daily patterns (hourly cycles).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Use:</a:t>
            </a:r>
            <a:r>
              <a:rPr lang="en-US" sz="2100" dirty="0"/>
              <a:t> For hourly or minute data only.</a:t>
            </a:r>
          </a:p>
          <a:p>
            <a:endParaRPr lang="en-US" sz="2100" dirty="0"/>
          </a:p>
          <a:p>
            <a:r>
              <a:rPr lang="en-US" sz="2100" b="1" dirty="0"/>
              <a:t>6. </a:t>
            </a:r>
            <a:r>
              <a:rPr lang="en-US" sz="2100" b="1" dirty="0" err="1"/>
              <a:t>Interval.Width</a:t>
            </a:r>
            <a:endParaRPr lang="en-US" sz="21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Default:</a:t>
            </a:r>
            <a:r>
              <a:rPr lang="en-US" sz="2100" dirty="0"/>
              <a:t> 0.80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Meaning:</a:t>
            </a:r>
            <a:r>
              <a:rPr lang="en-US" sz="2100" dirty="0"/>
              <a:t> The size of Prophet’s prediction interval (uncertainty range).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Effect:</a:t>
            </a:r>
            <a:endParaRPr lang="en-US" sz="2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0.95 → wider interval (more uncertainty).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0.80 → narrower interval (less uncertainty).</a:t>
            </a:r>
          </a:p>
          <a:p>
            <a:endParaRPr lang="en-US" sz="2100" dirty="0"/>
          </a:p>
          <a:p>
            <a:r>
              <a:rPr lang="en-US" sz="2100" b="1" dirty="0"/>
              <a:t>7. </a:t>
            </a:r>
            <a:r>
              <a:rPr lang="en-US" sz="2100" b="1" dirty="0" err="1"/>
              <a:t>Changepoint.Range</a:t>
            </a:r>
            <a:endParaRPr lang="en-US" sz="21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Default:</a:t>
            </a:r>
            <a:r>
              <a:rPr lang="en-US" sz="2100" dirty="0"/>
              <a:t> 0.8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Meaning:</a:t>
            </a:r>
            <a:r>
              <a:rPr lang="en-US" sz="2100" dirty="0"/>
              <a:t> The proportion of history where Prophet can add changepoints.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Effect:</a:t>
            </a:r>
            <a:endParaRPr lang="en-US" sz="2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Small value → fewer trend changes.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Large value → more flexibility near the 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100" dirty="0"/>
          </a:p>
          <a:p>
            <a:r>
              <a:rPr lang="en-US" sz="2100" b="1" dirty="0"/>
              <a:t>8. </a:t>
            </a:r>
            <a:r>
              <a:rPr lang="en-US" sz="2100" b="1" dirty="0" err="1"/>
              <a:t>Fourier.Order</a:t>
            </a:r>
            <a:r>
              <a:rPr lang="en-US" sz="2100" b="1" dirty="0"/>
              <a:t>:</a:t>
            </a:r>
            <a:r>
              <a:rPr lang="en-US" sz="2100" dirty="0"/>
              <a:t>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Meaning:</a:t>
            </a:r>
            <a:r>
              <a:rPr lang="en-US" sz="2100" dirty="0"/>
              <a:t> Number of sine and cosine pairs Prophet uses to model seasonality.</a:t>
            </a:r>
            <a:r>
              <a:rPr lang="en-US" sz="2100" b="1" dirty="0"/>
              <a:t> </a:t>
            </a:r>
          </a:p>
          <a:p>
            <a:r>
              <a:rPr lang="en-US" sz="2400" b="1" dirty="0"/>
              <a:t>Effect: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 Small value (e.g. 3) → smooth, simple seasonality.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 Large value (e.g. 15) → more complex seasonality, can overfit</a:t>
            </a:r>
            <a:r>
              <a:rPr lang="en-US" sz="2400" dirty="0"/>
              <a:t>.</a:t>
            </a:r>
          </a:p>
          <a:p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12604" y="2914052"/>
            <a:ext cx="1903745" cy="1589019"/>
            <a:chOff x="0" y="0"/>
            <a:chExt cx="694491" cy="5796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/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A103E5CC-0DEC-40FB-C1BF-DE2FD9D0E9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D19D9E-C548-8F8B-F559-77A54536A574}"/>
              </a:ext>
            </a:extLst>
          </p:cNvPr>
          <p:cNvSpPr txBox="1"/>
          <p:nvPr/>
        </p:nvSpPr>
        <p:spPr>
          <a:xfrm>
            <a:off x="730519" y="3200729"/>
            <a:ext cx="1067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EU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2FDF733-AF33-6A93-3C20-7DD63F4488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6679" y="3387227"/>
            <a:ext cx="12721254" cy="66852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1166B-922C-1B0A-BB42-3752269A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46692B-9D67-D183-6FBA-B0FB5EBCD526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AE3FE9D-28E0-A9E6-6BD7-322783A94463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51DBD8E-8CCE-35A7-E92A-1CEE967C3D97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90DEB08-9D7F-432C-22E2-967A4A3A2EBC}"/>
              </a:ext>
            </a:extLst>
          </p:cNvPr>
          <p:cNvGrpSpPr/>
          <p:nvPr/>
        </p:nvGrpSpPr>
        <p:grpSpPr>
          <a:xfrm>
            <a:off x="312604" y="2914052"/>
            <a:ext cx="190374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19C15F5-E7CA-29BC-D304-6EB156D96F7C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6DC567DE-B12B-78D3-694B-8B48A11F2F88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1E98296-DACA-E7CD-9094-9D3459345D80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EA3BD245-A062-B96C-DFA8-4E568DE9BBD4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014BCB59-AFE4-9D5C-ABCA-62FD0B8B95A4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4E4837A0-916B-85FC-4B99-56AEFA7E7349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4C76F22C-04E9-705D-36B7-4A39374C66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9C0509-7C5B-775E-C1A5-784E67A46ECC}"/>
              </a:ext>
            </a:extLst>
          </p:cNvPr>
          <p:cNvSpPr txBox="1"/>
          <p:nvPr/>
        </p:nvSpPr>
        <p:spPr>
          <a:xfrm>
            <a:off x="730519" y="3200729"/>
            <a:ext cx="1067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EU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2F0045-F48C-DABB-7EF7-3B6804C51D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9754" y="2971905"/>
            <a:ext cx="13008240" cy="683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25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2FDB-701F-8C82-705A-6F929216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DDB7C5-29BB-1480-5368-CAFAB85DBDCD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7D25F80-C570-420C-59F4-DF6C1036B4DD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C362E16-9B77-1593-66AE-4EC4740BE346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5760F73-BD45-B5C2-5166-1D4BC7158540}"/>
              </a:ext>
            </a:extLst>
          </p:cNvPr>
          <p:cNvGrpSpPr/>
          <p:nvPr/>
        </p:nvGrpSpPr>
        <p:grpSpPr>
          <a:xfrm>
            <a:off x="312604" y="2914052"/>
            <a:ext cx="190374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FB99A2B-7BA6-43F4-7071-D8075B2CB61E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7016ECD7-C767-F9B1-13D3-67E225772CD9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13727FE-32F1-5E51-1E5E-A0D78C3C4124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9A920359-C109-25EA-8626-9DD037E3A134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C8CF1691-FA70-5870-B694-91C5B7771CAE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D91D8820-A40B-52C8-0921-0ED0751CD584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AE819A71-0AA4-ACE5-6C1B-B382BE5A6D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CBCFE0-EBD8-172D-4369-A4C892913FE6}"/>
              </a:ext>
            </a:extLst>
          </p:cNvPr>
          <p:cNvSpPr txBox="1"/>
          <p:nvPr/>
        </p:nvSpPr>
        <p:spPr>
          <a:xfrm>
            <a:off x="730519" y="3200729"/>
            <a:ext cx="1067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EU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B04528-D95D-3C98-C01B-E743C05A0D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3449" y="3068365"/>
            <a:ext cx="13083659" cy="687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73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000D9-FF4A-C3C0-31EF-43151813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E0B013-9836-BF75-B6E8-2048D2C09797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8CD25E5-4BB5-A2E5-C1E5-9E634E50E779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6AADD2-AB64-C09A-8540-98242D7A8DF1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EC9E2B7-D3B0-1FA1-FD51-7D1027CBBA46}"/>
              </a:ext>
            </a:extLst>
          </p:cNvPr>
          <p:cNvGrpSpPr/>
          <p:nvPr/>
        </p:nvGrpSpPr>
        <p:grpSpPr>
          <a:xfrm>
            <a:off x="312604" y="2914052"/>
            <a:ext cx="190374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0D48D67-721D-5E63-5957-16AE91768032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6CA54A95-39FD-C7F6-C62C-12ABEFE94C71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81A171D-2654-7F44-1C96-8C57D8782D17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2779E7AE-2D45-1065-CB8B-5522F9DDF5D3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1B9C986F-D469-EFE3-8DAF-A75489C25D36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E2FDD19B-45C2-5001-8DB0-C119A054711E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EDF638D1-F58B-9847-A89D-6CFC04F2DC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312FBF-CCA4-1A17-54F1-858D4BDD22D5}"/>
              </a:ext>
            </a:extLst>
          </p:cNvPr>
          <p:cNvSpPr txBox="1"/>
          <p:nvPr/>
        </p:nvSpPr>
        <p:spPr>
          <a:xfrm>
            <a:off x="730519" y="3200729"/>
            <a:ext cx="1067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EU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9499A-6DE2-01B2-D453-0444A45072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1884" y="3101200"/>
            <a:ext cx="13056716" cy="686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92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EED3-5717-1E7E-D52F-63E6DA7F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0FAEBE-B9BC-341F-F579-0A80DAB0E22E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52688B6-1AD2-F735-783F-74474A047A7D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59A3B78-5BEA-6169-5805-014BEE6731A8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39BB071-12E6-40EB-D3B9-57E77CFEE186}"/>
              </a:ext>
            </a:extLst>
          </p:cNvPr>
          <p:cNvGrpSpPr/>
          <p:nvPr/>
        </p:nvGrpSpPr>
        <p:grpSpPr>
          <a:xfrm>
            <a:off x="312604" y="2914052"/>
            <a:ext cx="2413939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99DC2E6-107F-A573-E8F4-AE910F6BF25C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9BEFF014-1D01-326E-E00C-3213582CD60A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31813AC-DD0D-02E5-0B91-EB12ED6E1D04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17EDD495-7910-75FA-0EC1-FCAB88672126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63BC455C-2335-156A-AFFC-E5491C587A25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83BDF148-E308-37A8-3375-5A4B77244919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C41694E6-99C4-747A-F627-834F97E5B7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3A433A-C34F-9169-CD14-37AEDD6F2AF9}"/>
              </a:ext>
            </a:extLst>
          </p:cNvPr>
          <p:cNvSpPr txBox="1"/>
          <p:nvPr/>
        </p:nvSpPr>
        <p:spPr>
          <a:xfrm>
            <a:off x="385040" y="3200728"/>
            <a:ext cx="2387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ASEAN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56163D-6DB0-245E-1B02-1257359B83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1960" y="3399302"/>
            <a:ext cx="12598926" cy="662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13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14423-B1E2-EC63-103D-AE932846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AC1BB3-E5BB-0EF3-3CCE-F3DDE634969A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FBF7A04-95D0-AF29-0D95-3AE7254DBCD5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C6C9EEC-D928-A3A9-2A2D-814989F51335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AD793EB-DA4D-C778-BCB3-B77D6C26C1C5}"/>
              </a:ext>
            </a:extLst>
          </p:cNvPr>
          <p:cNvGrpSpPr/>
          <p:nvPr/>
        </p:nvGrpSpPr>
        <p:grpSpPr>
          <a:xfrm>
            <a:off x="312604" y="2914052"/>
            <a:ext cx="2413939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BCA5B79-140E-A48C-EC6D-73FA75792CAF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92628C04-435B-153A-A562-969B7B4174C2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1687246-D950-F6BD-D21A-2210AFB528C9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1A66304A-4E58-E2E7-4CB2-ECAD3C42BF04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9A1D9F48-7D65-3B19-B53C-E81EE3604CB7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86B0FE89-6DFE-D6DF-A0F1-4830E8E83575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F4763F7C-B6E4-E678-D6AB-AC9FA55D15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2D986A-1F61-BB1F-53EA-19D67E86A511}"/>
              </a:ext>
            </a:extLst>
          </p:cNvPr>
          <p:cNvSpPr txBox="1"/>
          <p:nvPr/>
        </p:nvSpPr>
        <p:spPr>
          <a:xfrm>
            <a:off x="385040" y="3200728"/>
            <a:ext cx="2387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ASEAN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24BA5-B03A-F0FC-AEDA-2BCF32B661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3889" y="3153118"/>
            <a:ext cx="12922382" cy="679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29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FCD2B-9F7B-98C3-5774-F93C3DAD7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8DC7D02-F549-97E0-B959-5328A452D9F4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501384D-4691-5420-F21E-18E695BE8FF1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621EF56-63DC-6D67-7E31-6FE21FCA8122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7A3A3DF-9838-6AC4-85F0-6CB7F6E122B2}"/>
              </a:ext>
            </a:extLst>
          </p:cNvPr>
          <p:cNvGrpSpPr/>
          <p:nvPr/>
        </p:nvGrpSpPr>
        <p:grpSpPr>
          <a:xfrm>
            <a:off x="312604" y="2914052"/>
            <a:ext cx="2413939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8764AF9-D316-F0AD-EE41-8BFA2BBDBDC7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D55B1B9C-319E-808A-DD9F-941722DFFCB6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C5DFED5-CED5-2375-C9DE-C7918AFAD0B1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3CAB96A7-7414-A016-035C-0059F6D00303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C5703FC8-944A-DD8A-A6AB-6672D1A7C40E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7E2EAC52-B714-BB11-8DBC-DF6BBB43732E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5F930DA2-D0AB-039F-A0C8-D8700FAAEB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2827CB-617A-F0C9-8A00-BC9FA3119AD8}"/>
              </a:ext>
            </a:extLst>
          </p:cNvPr>
          <p:cNvSpPr txBox="1"/>
          <p:nvPr/>
        </p:nvSpPr>
        <p:spPr>
          <a:xfrm>
            <a:off x="385040" y="3200728"/>
            <a:ext cx="2387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ASEAN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801929-F846-5CC9-4A86-9F5B687B62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0689" y="3166001"/>
            <a:ext cx="12752870" cy="670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73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B5B7D-1E6D-8CF7-06E7-3E5F3CC99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E11467-E259-E611-DF91-5EA571FF6A91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1FC348C-E1EC-13A2-042D-56C585EAB797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0B066B8-D9AD-2471-7A18-5A7D794881E4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223AEA6-6F80-99B1-C425-83F8E0B43961}"/>
              </a:ext>
            </a:extLst>
          </p:cNvPr>
          <p:cNvGrpSpPr/>
          <p:nvPr/>
        </p:nvGrpSpPr>
        <p:grpSpPr>
          <a:xfrm>
            <a:off x="312604" y="2914052"/>
            <a:ext cx="2413939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28F75F6-7DD9-5192-082F-846C12C56AB1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EC50A20C-1F00-5FFD-AE1D-6761B3C02F55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44CCE94-AD95-72E2-BA0B-8AA3FE66C554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72A8931E-7023-E983-9EA0-38DB1FCA59F5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3418A263-48A9-9750-E00F-12DD57ABD819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FD09FE74-213B-6A44-9878-C8DA50C3461C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F209A4BF-F858-7D42-D6B0-E2652B36A9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2EE811-3AD1-5569-0392-C21A5D2EC641}"/>
              </a:ext>
            </a:extLst>
          </p:cNvPr>
          <p:cNvSpPr txBox="1"/>
          <p:nvPr/>
        </p:nvSpPr>
        <p:spPr>
          <a:xfrm>
            <a:off x="385040" y="3200728"/>
            <a:ext cx="2387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ASEAN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D48E3-27AE-F6BE-FD0D-DB96D7E030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9616" y="2979697"/>
            <a:ext cx="13397382" cy="704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01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34FE0-1CB2-7361-CE5F-7DA8BC2E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95A036-E20F-E3CE-30D2-C051670E8E83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4877565-0CC1-34EA-B8EF-926ED6CEECE9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2C510CB-8EA6-5543-1C2B-6532BBEFE00B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B28FA51-A10A-DFED-25FD-D7524367E8B7}"/>
              </a:ext>
            </a:extLst>
          </p:cNvPr>
          <p:cNvGrpSpPr/>
          <p:nvPr/>
        </p:nvGrpSpPr>
        <p:grpSpPr>
          <a:xfrm>
            <a:off x="312604" y="2914052"/>
            <a:ext cx="190374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BA9A609-A6C4-8F36-7B97-62B2E436FC82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48927129-BD92-16BB-FD43-75EFA6C3242A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C78730A-15F8-A73A-04BF-0DFC0FAB76C9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EAF1FC6F-558D-66B2-37CE-7CA63AF1635D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4330721E-467F-D4CE-9DA7-83A692FCDC34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C1561074-4124-9E74-1908-5FB3113C50F6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EF85EE3C-4014-BB98-A94F-90FAE96195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15B66A-48B8-F361-013C-35B4C84CE6F4}"/>
              </a:ext>
            </a:extLst>
          </p:cNvPr>
          <p:cNvSpPr txBox="1"/>
          <p:nvPr/>
        </p:nvSpPr>
        <p:spPr>
          <a:xfrm>
            <a:off x="730519" y="3200729"/>
            <a:ext cx="1067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C2E8BA-3CD7-BC59-D8D5-40FFA4A759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2730" y="3200729"/>
            <a:ext cx="12831786" cy="67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44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9118-2257-A242-22D6-6959F4865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0D2A0E-F4E2-3458-3480-E2E35D678827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0D5EBBC-9CDD-CFA6-FE01-382607108B49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672C9C3-3B62-3FDD-497C-FE093411A946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B77F3B0-C4A2-BB76-0CA2-CFFDC802F304}"/>
              </a:ext>
            </a:extLst>
          </p:cNvPr>
          <p:cNvGrpSpPr/>
          <p:nvPr/>
        </p:nvGrpSpPr>
        <p:grpSpPr>
          <a:xfrm>
            <a:off x="312604" y="2914052"/>
            <a:ext cx="190374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D71650D-8049-938B-DD8C-77081AA2A157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D183B2AE-FC00-6EAA-8C59-01133F8DC265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062302C-58D8-948C-4871-7DF5D7390EE4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B2B2AC39-040E-5FED-611E-9EAA1A20B20D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19542E79-6826-0A24-867B-8422DD785438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415ADC58-F588-D347-4ED5-C345A5730995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A457B076-B63D-85FD-B80F-5DAA470AD9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A97874-9925-ED9D-D0ED-086ED90AAEB4}"/>
              </a:ext>
            </a:extLst>
          </p:cNvPr>
          <p:cNvSpPr txBox="1"/>
          <p:nvPr/>
        </p:nvSpPr>
        <p:spPr>
          <a:xfrm>
            <a:off x="730519" y="3200729"/>
            <a:ext cx="1067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C276AA-07EE-5D64-5DC4-590CD060CC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6679" y="3042219"/>
            <a:ext cx="13126703" cy="689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25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9040-BEF5-509B-DCB2-97779DB4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1D6BE9-EC60-E139-4469-43084B63141D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B959A44-415E-05E5-D49A-9793C918D2D3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5D277FC-8C8E-5DE1-6402-1EADB0B7C3A4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03D71D5-BB1B-6B67-697F-F8B96280085E}"/>
              </a:ext>
            </a:extLst>
          </p:cNvPr>
          <p:cNvGrpSpPr/>
          <p:nvPr/>
        </p:nvGrpSpPr>
        <p:grpSpPr>
          <a:xfrm>
            <a:off x="312604" y="2914052"/>
            <a:ext cx="190374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2C5D683-87AC-AEC1-2FDE-025521398110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94B07B67-84EB-757A-60DF-25FB04853731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DE89D23-34BD-8609-6CAB-93D914EC45C4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DEDA0F33-66EA-E76D-6BD2-F486F08E7A9E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EE171BEC-352E-E920-A77C-EBE449CECA3C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94622A50-945D-2077-71E6-27341CF1B10F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E3F0A54D-594B-3605-A226-AF3A8251C0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9DC16A-72A3-DBE9-09A4-6110F33AB5D2}"/>
              </a:ext>
            </a:extLst>
          </p:cNvPr>
          <p:cNvSpPr txBox="1"/>
          <p:nvPr/>
        </p:nvSpPr>
        <p:spPr>
          <a:xfrm>
            <a:off x="730519" y="3200729"/>
            <a:ext cx="1067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E29D3-5542-B5A5-69B5-E1EB5AC3B8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3039" y="3132172"/>
            <a:ext cx="12961921" cy="681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72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5AA5-B56D-DB2D-D617-B81C33F83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ECAF41-8E3B-50A8-3E8A-900050A48D5D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1A5AA48-BE29-7585-E1F8-867E3392EB8A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3359E53-0566-4654-F34A-7B308D911FAC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FB8382F-924A-AB69-6D10-8E2FA6081772}"/>
              </a:ext>
            </a:extLst>
          </p:cNvPr>
          <p:cNvGrpSpPr/>
          <p:nvPr/>
        </p:nvGrpSpPr>
        <p:grpSpPr>
          <a:xfrm>
            <a:off x="312604" y="2914052"/>
            <a:ext cx="190374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1D1CF96-C5C2-AD75-6D8D-EAB330FCD56A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FAAD42CA-06AF-E96D-8C3A-3F8A232C29F4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C66B870-A4D1-C3CA-D231-085B0A95A875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992E561A-C5A0-D3ED-4E5B-3E844BCBF7B2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73EF71BB-14C8-990E-7E18-D51E8D04CD9B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2FE8FC19-CBC1-040A-B556-01E667C72862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A69EC82D-693B-7D5A-4FB4-8E9BFF5920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421A69-DCAE-13BE-D24B-7014EBF7E0EC}"/>
              </a:ext>
            </a:extLst>
          </p:cNvPr>
          <p:cNvSpPr txBox="1"/>
          <p:nvPr/>
        </p:nvSpPr>
        <p:spPr>
          <a:xfrm>
            <a:off x="730519" y="3200729"/>
            <a:ext cx="1067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A89CE2-BDD9-4837-8EF3-CC02E57EEF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4264" y="3001145"/>
            <a:ext cx="13263033" cy="69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78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4B0C3-143A-D648-C12E-D5593A9B1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6157834-6BB9-094D-0643-392B9BE820AE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0E1D697-7328-10B1-2162-2F585D38DC14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692CB87-6971-F39B-77A6-A39EC4841385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1D26864-F586-641D-2CCC-D41495B1E4F2}"/>
              </a:ext>
            </a:extLst>
          </p:cNvPr>
          <p:cNvGrpSpPr/>
          <p:nvPr/>
        </p:nvGrpSpPr>
        <p:grpSpPr>
          <a:xfrm>
            <a:off x="312604" y="2914052"/>
            <a:ext cx="2407593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F217457-A79A-DCB5-4F94-D3DDFE5F35BC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E38FF5AD-06D3-33EC-DE02-A958D61913D6}"/>
              </a:ext>
            </a:extLst>
          </p:cNvPr>
          <p:cNvSpPr/>
          <p:nvPr/>
        </p:nvSpPr>
        <p:spPr>
          <a:xfrm flipH="1">
            <a:off x="15414649" y="369570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9871F72-4640-D4C5-BAAA-11B633BDE152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68A670D9-06D9-60FF-FDF8-8C62FFC80F00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6996EFE5-C032-6954-D0D3-9527C7C64547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C00C91C4-E377-776A-C4C3-7032534EB7A6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8747E0D2-DFF9-98FF-36E1-55A4D5FBCA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3F4EAD-F8BD-C4AE-5CE5-3EB1A4DE57A9}"/>
              </a:ext>
            </a:extLst>
          </p:cNvPr>
          <p:cNvSpPr txBox="1"/>
          <p:nvPr/>
        </p:nvSpPr>
        <p:spPr>
          <a:xfrm>
            <a:off x="517340" y="3200728"/>
            <a:ext cx="220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Japan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4D6184-2911-C968-B9E2-CC22D44DA4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0672" y="3161649"/>
            <a:ext cx="12588354" cy="661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63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6E7C-1E37-BCDF-7FC2-56D8388AE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CDFF5E-FF1C-0220-6976-7868CF76FECF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B197938-7840-471E-E3F9-03748697AFEB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46BF473-32D5-41A3-94F9-AA77E5F3551C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BAE6E0F-256F-5AEB-2EDE-CBC9B95BDAD6}"/>
              </a:ext>
            </a:extLst>
          </p:cNvPr>
          <p:cNvGrpSpPr/>
          <p:nvPr/>
        </p:nvGrpSpPr>
        <p:grpSpPr>
          <a:xfrm>
            <a:off x="312604" y="2914052"/>
            <a:ext cx="2407593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BF71351-7169-C9A9-AC2D-CD15CB422748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4F2C7D49-C851-4925-0031-DBF612815DB3}"/>
              </a:ext>
            </a:extLst>
          </p:cNvPr>
          <p:cNvSpPr/>
          <p:nvPr/>
        </p:nvSpPr>
        <p:spPr>
          <a:xfrm flipH="1">
            <a:off x="15414649" y="369570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1236CBC-D7C3-9012-4CD3-4CC79805DE1E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CC54C38D-7429-88AA-A07A-181F39BFAEB1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10643411-09EC-8118-C21C-06D9F949C0DA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5A256E8B-6E06-AAA4-556B-3179B7D030E8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600F7794-BE6F-B115-D5C8-B8A699E327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45BCE3-82C9-5095-DD9F-2424ADA6DA34}"/>
              </a:ext>
            </a:extLst>
          </p:cNvPr>
          <p:cNvSpPr txBox="1"/>
          <p:nvPr/>
        </p:nvSpPr>
        <p:spPr>
          <a:xfrm>
            <a:off x="517340" y="3200728"/>
            <a:ext cx="220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Japan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A47A3E-AB60-1A16-7100-2123FFE7E3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3520" y="3078580"/>
            <a:ext cx="12746425" cy="669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80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DDF6-44DB-548C-4DAB-3E6D88B4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A75284-65D7-1D27-CC03-D3DF1B08663C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53703BC-E50E-00AE-AF3B-FB8E094E9F4C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DC847FE-8FE1-CFD9-92B0-C8C8F2B25636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1EF4971-6D22-C20D-59D4-53C0621B4DCF}"/>
              </a:ext>
            </a:extLst>
          </p:cNvPr>
          <p:cNvGrpSpPr/>
          <p:nvPr/>
        </p:nvGrpSpPr>
        <p:grpSpPr>
          <a:xfrm>
            <a:off x="312604" y="2914052"/>
            <a:ext cx="2407593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D2F741F-0BCA-7485-71FD-FB6AF85DA944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2E63C36E-6869-2AB3-AEA5-61FFB8CC6A67}"/>
              </a:ext>
            </a:extLst>
          </p:cNvPr>
          <p:cNvSpPr/>
          <p:nvPr/>
        </p:nvSpPr>
        <p:spPr>
          <a:xfrm flipH="1">
            <a:off x="15414649" y="369570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9136CF7-3F32-DB5B-87CB-1CFCA1C49D4A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1D8F0183-6A5E-2F62-B5C9-E06E1EC8E0DA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6E5842B0-1865-C565-27B7-5B87882F3BCF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47C417FD-08FA-653C-A45B-9140C8A71815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8B0AB261-5F28-243C-3AAD-B336D2D1AC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E32473-7F4E-19B4-AB3C-3BF8AE7B4F7A}"/>
              </a:ext>
            </a:extLst>
          </p:cNvPr>
          <p:cNvSpPr txBox="1"/>
          <p:nvPr/>
        </p:nvSpPr>
        <p:spPr>
          <a:xfrm>
            <a:off x="517340" y="3200728"/>
            <a:ext cx="220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Japan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E6D7C-EFE1-A17E-2A20-6265F68F57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0527" y="3071834"/>
            <a:ext cx="13000048" cy="683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66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54E81-27AA-9999-7391-5F47F3F8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C63DA0-9A6E-5D99-957D-7F9110D15CA0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F8CF7F6-5FE7-D8A0-FC87-B0E45FECFAD6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405BF8A-B3AF-F7B8-91F5-480C08185AC7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83F75911-D8C2-0FA8-73F4-28116C6A01AB}"/>
              </a:ext>
            </a:extLst>
          </p:cNvPr>
          <p:cNvGrpSpPr/>
          <p:nvPr/>
        </p:nvGrpSpPr>
        <p:grpSpPr>
          <a:xfrm>
            <a:off x="312604" y="2914052"/>
            <a:ext cx="2407593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FF52654-DBD1-80CA-6E5D-178443D4B207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1658A5A1-0497-9CD0-4EF4-6F1C2C1FE2C0}"/>
              </a:ext>
            </a:extLst>
          </p:cNvPr>
          <p:cNvSpPr/>
          <p:nvPr/>
        </p:nvSpPr>
        <p:spPr>
          <a:xfrm flipH="1">
            <a:off x="15414649" y="369570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71F274A-9A49-1992-0927-7A91624CB570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1775DD94-A7B5-CC75-19A6-722228AA1019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D7BBD42F-281C-E459-8690-350B4E4A4A49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CFBECCD3-792A-0096-6D0D-5D426357EE91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97AF5C29-DEA9-88D4-70F8-D175973969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F9B63D-770F-C9E7-23FE-8544845D89E1}"/>
              </a:ext>
            </a:extLst>
          </p:cNvPr>
          <p:cNvSpPr txBox="1"/>
          <p:nvPr/>
        </p:nvSpPr>
        <p:spPr>
          <a:xfrm>
            <a:off x="517340" y="3200728"/>
            <a:ext cx="220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Japan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1AA163-6C8B-4D72-E4DD-DD637ED961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4933" y="3124837"/>
            <a:ext cx="13258800" cy="696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98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C8A29-54EC-725D-096F-FF8E7CBD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A809CE-6A4F-0304-E540-61455658E018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8A8801B-B2D6-0FE8-EFC8-800B0C58380F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27E633C-B2AA-CD77-95CF-756D3CC2D9DB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57EBB41-B1F0-F2B7-42BB-97B3140D9B0E}"/>
              </a:ext>
            </a:extLst>
          </p:cNvPr>
          <p:cNvGrpSpPr/>
          <p:nvPr/>
        </p:nvGrpSpPr>
        <p:grpSpPr>
          <a:xfrm>
            <a:off x="312604" y="2914052"/>
            <a:ext cx="2413939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FA4ACA5-4E42-B7FD-B6D1-CD5598BDE254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6BD15798-1F22-C7BD-46DE-4D9E6C890A3B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15F96A4-0A9D-60F0-3412-ECDD6A68F12E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6DEF8C83-173F-677D-4370-F7C53156F849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D0BBB9AD-A51F-17FA-AB9D-D98D609822E1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23DF96CC-304A-CAED-64EC-7C630DB5DA45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239B8FE1-441C-AEC4-F577-09BD3A310C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89945A-61DA-175B-828F-58686C4F4F93}"/>
              </a:ext>
            </a:extLst>
          </p:cNvPr>
          <p:cNvSpPr txBox="1"/>
          <p:nvPr/>
        </p:nvSpPr>
        <p:spPr>
          <a:xfrm>
            <a:off x="523686" y="3200728"/>
            <a:ext cx="220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Korea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EF5268-4B6E-99DD-0412-F19E65425C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1282" y="3233675"/>
            <a:ext cx="12451299" cy="654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15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54FE-D543-9F63-C561-4D676EB3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AA1C458-0620-4454-C90A-C00704500776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06EE89A-A4DE-D253-1678-93B6B450793C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81C5BE9-DC0F-C0B2-B79D-4868F56701EE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72CDD29-0CD2-0CC1-8C2E-9734156F5A96}"/>
              </a:ext>
            </a:extLst>
          </p:cNvPr>
          <p:cNvGrpSpPr/>
          <p:nvPr/>
        </p:nvGrpSpPr>
        <p:grpSpPr>
          <a:xfrm>
            <a:off x="312604" y="2914052"/>
            <a:ext cx="2413939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3FADD07-01E3-266A-ACAA-F139CF0ABD89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B89B6B06-F2AE-6D05-8E08-CF5859A00B4E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4ABCF93-2192-7062-7954-FDE30AC8289B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C6AFC88A-5524-AF28-6923-02C8069CDBA0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256FF56C-9A3C-4CAC-0B15-92DF75A9813F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F92D115A-A270-1DC6-CB9D-BBD9C5FDB40E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38A76DE6-7E40-C468-3590-D8B2E8FC11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BEE5AA-E1B2-A8B4-49F9-39ECBF0799E7}"/>
              </a:ext>
            </a:extLst>
          </p:cNvPr>
          <p:cNvSpPr txBox="1"/>
          <p:nvPr/>
        </p:nvSpPr>
        <p:spPr>
          <a:xfrm>
            <a:off x="523686" y="3200728"/>
            <a:ext cx="220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Korea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AD4EF-E372-0CE8-E7A3-8A8E56310D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9164" y="3040104"/>
            <a:ext cx="12546771" cy="658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41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460DB-3322-1612-3EAC-46206A6B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5F053D-680F-B0E7-54F2-B69C6EEBB8E8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594C33-1725-32E2-5C2F-C6740376C700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ABFD254-B2CF-0C26-22EF-DAAFA3890C98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FA9AB83-CBAA-628D-631F-892DAE827C1B}"/>
              </a:ext>
            </a:extLst>
          </p:cNvPr>
          <p:cNvGrpSpPr/>
          <p:nvPr/>
        </p:nvGrpSpPr>
        <p:grpSpPr>
          <a:xfrm>
            <a:off x="312604" y="2914052"/>
            <a:ext cx="2413939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692889B-EE96-4AC5-48B7-E2B3B2333C72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7C0EB780-700A-F9B7-815A-8520A27771AB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4BCC659-9428-9FB7-4630-F8035AF8A0EB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A77DA20B-C6DB-524F-F4AB-E56D9938A9A2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A3F8445C-FCFA-1822-CE66-28D0CCD20224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20D8D652-7F99-5893-BAA9-59A054FF3B34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18408A7B-AA5A-314F-0EB8-C3CAA0C6A4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97BFE4-EBE7-2C4E-3932-A309E6B9F224}"/>
              </a:ext>
            </a:extLst>
          </p:cNvPr>
          <p:cNvSpPr txBox="1"/>
          <p:nvPr/>
        </p:nvSpPr>
        <p:spPr>
          <a:xfrm>
            <a:off x="523686" y="3200728"/>
            <a:ext cx="220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Korea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DEE834-449A-00BA-F8F9-D19CF735D1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6873" y="2999265"/>
            <a:ext cx="13366127" cy="702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25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5F74-B28B-D917-7E88-F96FB1917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C4D747-5E4A-283B-E1CA-F443EF63F0E7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50B8374-F6F2-6DF8-1209-75793D9FDF8D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2193515-3C66-61D8-E336-D8E1C52B2BD0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AAC4B9A-E5D8-01A4-27CB-13B72F3EC3D3}"/>
              </a:ext>
            </a:extLst>
          </p:cNvPr>
          <p:cNvGrpSpPr/>
          <p:nvPr/>
        </p:nvGrpSpPr>
        <p:grpSpPr>
          <a:xfrm>
            <a:off x="312604" y="2914052"/>
            <a:ext cx="2413939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EAD52F2-90A3-5DE9-ED96-BC39BEF252CE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F6536183-E186-27DA-7ACE-C2A22D45A4D1}"/>
              </a:ext>
            </a:extLst>
          </p:cNvPr>
          <p:cNvSpPr/>
          <p:nvPr/>
        </p:nvSpPr>
        <p:spPr>
          <a:xfrm flipH="1">
            <a:off x="15354624" y="3708560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BF78DD2-AF85-5180-D445-4F097EF87A93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097BFD7B-418B-C43E-589C-BCA166F90833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66F174AF-DB48-46E7-AAF2-5AA26C729893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0933CCD5-8F7B-66B5-6D45-92043F3F36D4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F35268AD-97E1-1313-D6A1-411CBEC8B5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6AEC6F-00D0-C94B-7EA0-11FDE96B2FEF}"/>
              </a:ext>
            </a:extLst>
          </p:cNvPr>
          <p:cNvSpPr txBox="1"/>
          <p:nvPr/>
        </p:nvSpPr>
        <p:spPr>
          <a:xfrm>
            <a:off x="523686" y="3200728"/>
            <a:ext cx="220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Korea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BCD78-A025-1F02-C6D3-B37AC8673F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7625" y="2957686"/>
            <a:ext cx="13369175" cy="702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54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7B98-540F-F59E-806A-B41F00EF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065634-6556-D2C7-3AF4-1FE532DFD3AE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08B3B43-B58D-4285-C360-4E32E8BEE41F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5E5A744-670B-D283-E213-ED9384EB1D74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8889C5BB-53A9-A373-FD5B-CBF177FB2FFB}"/>
              </a:ext>
            </a:extLst>
          </p:cNvPr>
          <p:cNvGrpSpPr/>
          <p:nvPr/>
        </p:nvGrpSpPr>
        <p:grpSpPr>
          <a:xfrm>
            <a:off x="185775" y="2914049"/>
            <a:ext cx="3046106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69F9FE7-4B69-829E-DDD9-C063B1F196C4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C3219F06-F6BC-745F-CC5B-66F06319B7CF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8ED5E00-A92A-70A7-FB5E-CB158B9B7EE0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4D88AAB0-83C2-B283-B165-90DDE244A9BD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AD9E65A8-25E2-A8FC-1502-0215EFE7B8CA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DA298C0B-ACEA-CD9F-21A3-B1F7F9C2F3FC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95C0D8E5-B7F9-44FE-A774-75FA14F211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B36198-F693-A5D4-4B00-6DCDE51B6A5E}"/>
              </a:ext>
            </a:extLst>
          </p:cNvPr>
          <p:cNvSpPr txBox="1"/>
          <p:nvPr/>
        </p:nvSpPr>
        <p:spPr>
          <a:xfrm>
            <a:off x="152400" y="3200728"/>
            <a:ext cx="3079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Australia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E14DC5-258E-3ACE-2522-20CEC79661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3200728"/>
            <a:ext cx="12768976" cy="671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03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FD362-DCE7-AC9A-7F54-40D48722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B59476-B624-ED77-016A-7D1AB02D428D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8FDA0C5-0913-971B-493A-540A952576AE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B87531C-03F5-FB77-684E-C52D3380052B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55F2CFD-3135-1870-5BB6-F0CBE9499FC6}"/>
              </a:ext>
            </a:extLst>
          </p:cNvPr>
          <p:cNvGrpSpPr/>
          <p:nvPr/>
        </p:nvGrpSpPr>
        <p:grpSpPr>
          <a:xfrm>
            <a:off x="185775" y="2914049"/>
            <a:ext cx="3046106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9D57A6C-62E4-C54E-A982-05ED1E310FF6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B8CD9D6F-5537-8844-C88F-77CF7F51FEE0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B21FC3C-F47A-9AC0-48BE-B3FDEF9E5A26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ABC8D9B2-232D-DDF0-382D-7F2BA51D172B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B1FDD93E-6E01-032D-BCBB-AE18B1029544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6DFB7ECD-9A4C-41AF-8BC1-4F5682D00C67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F4263979-4CC6-F918-C998-FEF56D3C17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317FC0-1D2F-0433-A11A-69164D5FBBC6}"/>
              </a:ext>
            </a:extLst>
          </p:cNvPr>
          <p:cNvSpPr txBox="1"/>
          <p:nvPr/>
        </p:nvSpPr>
        <p:spPr>
          <a:xfrm>
            <a:off x="152400" y="3200728"/>
            <a:ext cx="3079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Australia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B4774-BD9B-32B3-8D62-CF4CCAA0BE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6639" y="3139795"/>
            <a:ext cx="12629941" cy="66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387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0C7EC-C581-1DAB-927F-786791299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47338E-C1B7-8630-D6F4-8166E07BA4C2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8778358-8193-FD2E-9F20-0F015ECB1B7F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06EC7DF-DBA0-0B50-7E9E-F53C1EAD856B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E92533F-9B52-3D42-0CE9-A9498DF0C20E}"/>
              </a:ext>
            </a:extLst>
          </p:cNvPr>
          <p:cNvGrpSpPr/>
          <p:nvPr/>
        </p:nvGrpSpPr>
        <p:grpSpPr>
          <a:xfrm>
            <a:off x="185775" y="2914049"/>
            <a:ext cx="3046106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C1F4493-B586-C8F9-F94D-FA002F2DF237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4BDDC067-F604-0B88-D81F-F44249CB1FAE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C18CADD-D6E2-5058-57A6-5A8AB4F8DDB6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C217EEF9-92BF-23D0-279C-BB11D164A7BD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C30A3945-5FE2-58FC-05F7-24980A92E710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8C5F5010-2832-A4AF-F8B8-746E64B9B370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972208CB-8255-BB4E-28A2-4CC5C89EA0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1C761-F969-E59C-98A0-1579BC1927D4}"/>
              </a:ext>
            </a:extLst>
          </p:cNvPr>
          <p:cNvSpPr txBox="1"/>
          <p:nvPr/>
        </p:nvSpPr>
        <p:spPr>
          <a:xfrm>
            <a:off x="152400" y="3200728"/>
            <a:ext cx="3079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Australia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0319F8-916B-BA7D-EF3A-D122C74136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2639" y="3086101"/>
            <a:ext cx="13208961" cy="694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380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1430B-501D-6F38-F0BE-536A140E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028454-8EFB-8C80-5621-2708AFF69CB2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09319BC-3DE4-5D9A-0E29-68AE79939E97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4FC3082-6B01-8FDB-EF40-4895211FC82B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0DA7153-FE64-5277-FE9E-7090D28C460F}"/>
              </a:ext>
            </a:extLst>
          </p:cNvPr>
          <p:cNvGrpSpPr/>
          <p:nvPr/>
        </p:nvGrpSpPr>
        <p:grpSpPr>
          <a:xfrm>
            <a:off x="185775" y="2914049"/>
            <a:ext cx="3046106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9004325-1889-9134-4BA3-E0446C26A92A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ED778DFD-C488-7BAB-C5B3-BBBA80574C9D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E0921A9-B0A2-ACE6-ED65-61BD00B18E18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66B34CA0-2902-BA37-0BA4-77D642762785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E2307DC7-95E1-65C3-7101-DCAD96C60C94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30D5A910-BB77-EB8F-0535-5A7C21C842C0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61CCE9D9-6BB2-F915-02AC-BCD04DD9EA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3E53B4-2AA3-4240-8EF9-2CB1498D44AB}"/>
              </a:ext>
            </a:extLst>
          </p:cNvPr>
          <p:cNvSpPr txBox="1"/>
          <p:nvPr/>
        </p:nvSpPr>
        <p:spPr>
          <a:xfrm>
            <a:off x="152400" y="3200728"/>
            <a:ext cx="3079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Australia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948C7-34BB-9BA4-D8EB-C27B7A287B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5382" y="3086100"/>
            <a:ext cx="13182600" cy="692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385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5560-5347-EE2F-99C1-A2B16AEA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1A04BC7-D26D-12A8-A9DC-4CF16AACFDF0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43B1095-E37C-4E82-B08F-2D074CDACCE2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F63C837-68A1-39E5-BCB7-F8EE661895ED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EB9A5DA-EC36-36DE-88AD-C11C76A75E9C}"/>
              </a:ext>
            </a:extLst>
          </p:cNvPr>
          <p:cNvGrpSpPr/>
          <p:nvPr/>
        </p:nvGrpSpPr>
        <p:grpSpPr>
          <a:xfrm>
            <a:off x="185775" y="2914049"/>
            <a:ext cx="248122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8C2F5452-3F03-9ED5-BA96-47E4358B50B3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CF8F1F98-4451-0468-7163-7D83EF003E86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49208FE-3045-15BC-B5E3-50D97FE721A5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CDA9D96A-4795-0A07-63C9-2DDD47B9D382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05765FDD-706A-70B2-20BA-B508460675C3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B7D3732A-DFDE-E490-890B-6B4DCF220885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8997C3FC-C280-8417-0E1B-16F2672262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582F71-88BC-D1F4-13AF-0CA32A2EEDA6}"/>
              </a:ext>
            </a:extLst>
          </p:cNvPr>
          <p:cNvSpPr txBox="1"/>
          <p:nvPr/>
        </p:nvSpPr>
        <p:spPr>
          <a:xfrm>
            <a:off x="379759" y="3200726"/>
            <a:ext cx="2093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China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D1769E-491E-D070-C0C1-09C37FDE7D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0501" y="3154604"/>
            <a:ext cx="13348972" cy="70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603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5F3D0-03BC-5F10-10E4-24C1A919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B0E95C-85EE-A8E4-BBDC-18CC7D473020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E3CC401-20D0-115D-5FD8-9244AA86321E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6AF835-FF1C-AE3A-6F19-7CF0D5966F00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BD91D18-009C-FBEC-40A8-A5A496A53433}"/>
              </a:ext>
            </a:extLst>
          </p:cNvPr>
          <p:cNvGrpSpPr/>
          <p:nvPr/>
        </p:nvGrpSpPr>
        <p:grpSpPr>
          <a:xfrm>
            <a:off x="185775" y="2914049"/>
            <a:ext cx="248122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8E39945-F54D-3330-A7E1-715EB60A7E33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58760408-7EC0-E1C5-C9F3-1DAD8E5B8B99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85DD072-06D9-184A-AC7D-935C823B281B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7672C15C-2E62-33FD-58B4-C5BB5657B90C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263B4687-5C6E-5112-2787-86B260F3B9CC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B84168EE-412A-7E35-4550-EC93EC162A63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CDA0EA45-0506-10D0-4697-BB39803F85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68A279-99A9-EEB7-02F3-8D527201C47A}"/>
              </a:ext>
            </a:extLst>
          </p:cNvPr>
          <p:cNvSpPr txBox="1"/>
          <p:nvPr/>
        </p:nvSpPr>
        <p:spPr>
          <a:xfrm>
            <a:off x="379759" y="3200726"/>
            <a:ext cx="2093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China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6A2A86-5E5E-717F-2120-7030748392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0984" y="3020065"/>
            <a:ext cx="13194832" cy="69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85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A37F7-E744-93E2-1C5B-E99E41E72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3CB04B-5A89-4AD2-6925-7B12A9770D75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95FF54-7F66-488D-4309-A3BD0DC32339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3687762-CDD7-6AF3-CCBD-4565B591A496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D0CF63A-7195-6C3C-BA32-007C2B585AF3}"/>
              </a:ext>
            </a:extLst>
          </p:cNvPr>
          <p:cNvGrpSpPr/>
          <p:nvPr/>
        </p:nvGrpSpPr>
        <p:grpSpPr>
          <a:xfrm>
            <a:off x="185775" y="2914049"/>
            <a:ext cx="248122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111A24B-A211-B8A7-7EB7-B9D0608E29BD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5B1D9BE4-9F89-977E-E6FA-32EA5D3B1AC8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D9CC05B-1655-4233-D79D-B830E175759D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A01A3A49-129B-B768-4DC7-37927FE98939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3A36389F-1B3F-F785-2B57-1369E88C65AF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2F748259-E4A5-4267-A3E1-698A709673F8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441BB5F8-3BE6-E26E-75AD-F775EA8EC3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D6562C-2960-A0B7-18CD-094F0657B2A7}"/>
              </a:ext>
            </a:extLst>
          </p:cNvPr>
          <p:cNvSpPr txBox="1"/>
          <p:nvPr/>
        </p:nvSpPr>
        <p:spPr>
          <a:xfrm>
            <a:off x="379759" y="3200726"/>
            <a:ext cx="2093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China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562D5-35B9-029B-D21F-3601C413FA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5498" y="3087651"/>
            <a:ext cx="13046961" cy="685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230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DF5B3-6645-A9C8-C5C8-3A357597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E72F6C-5F1F-D8A5-AE92-FB6F7C1A48B2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0EF8A1F-89ED-7B6F-8137-1A263635445C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33BC380-AFBC-FD4C-BFC1-13DC3DA2EE29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91E18E5-87F6-E7FE-EA80-5050072E3B1D}"/>
              </a:ext>
            </a:extLst>
          </p:cNvPr>
          <p:cNvGrpSpPr/>
          <p:nvPr/>
        </p:nvGrpSpPr>
        <p:grpSpPr>
          <a:xfrm>
            <a:off x="185775" y="2914049"/>
            <a:ext cx="2481225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C951034-8A74-D972-940E-7AFEF34BB1A2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0283B80F-DD34-FF2C-B770-61B27AC20175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B65B342-B931-E56A-9660-DCC4B6A7AECC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D62263BC-1A7E-316C-C907-4288B3298A9E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AC672153-6017-95DF-A52A-58E078FB5A87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B4D047D7-870A-8636-526A-759FB9513F44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98C75CA0-0865-1CFA-C35F-518AF6EB4C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85BC91-C75F-7019-9801-A4DF849CC79F}"/>
              </a:ext>
            </a:extLst>
          </p:cNvPr>
          <p:cNvSpPr txBox="1"/>
          <p:nvPr/>
        </p:nvSpPr>
        <p:spPr>
          <a:xfrm>
            <a:off x="379759" y="3200726"/>
            <a:ext cx="2093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China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186652-4EB7-804F-3FDC-DC9908AB13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4058" y="3036245"/>
            <a:ext cx="13095299" cy="688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12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A701-B4C5-902B-3DE3-6ED789A8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814935-4064-7175-9A10-E172C8B62F54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75FD869-913F-3D7D-775F-F22CF6845D8D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1ACFFA-CC9A-FC74-F7A2-15F2B5ECD3C8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B00421F-5269-740E-3377-FB2842C9C392}"/>
              </a:ext>
            </a:extLst>
          </p:cNvPr>
          <p:cNvGrpSpPr/>
          <p:nvPr/>
        </p:nvGrpSpPr>
        <p:grpSpPr>
          <a:xfrm>
            <a:off x="185775" y="2914049"/>
            <a:ext cx="2059882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4AAE118-2F49-99CC-1BA2-CA839E1DC242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3C3DD52D-7636-FEA0-6A2A-5BE7706615CE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A2624D5-1E0D-27FC-5F4E-29350854E1B7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32361B11-A658-3CCF-8B85-B7521A432664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0BA36526-A794-0B8F-1B74-94F8EBE15A78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49504ACE-C52C-143A-97F5-85D99BD0204D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7DED11EF-E012-CFA2-456B-BD2328266C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72E253-4159-D473-07E2-2D13529112C0}"/>
              </a:ext>
            </a:extLst>
          </p:cNvPr>
          <p:cNvSpPr txBox="1"/>
          <p:nvPr/>
        </p:nvSpPr>
        <p:spPr>
          <a:xfrm>
            <a:off x="375775" y="3200728"/>
            <a:ext cx="1861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India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2A529-95FC-176B-C075-283F5CDF67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7402" y="3153250"/>
            <a:ext cx="13199798" cy="693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41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500B7-6630-5921-7A6A-B1DB6747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B15E20-7FB9-3633-2ED7-3E2E38EDE10F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32C62CB-E7E3-BC04-87FF-068245C3864F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CCD8B8A-192F-972E-4707-1221BD093ED8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FD2CB19-473F-4F04-08EC-235B120A8622}"/>
              </a:ext>
            </a:extLst>
          </p:cNvPr>
          <p:cNvGrpSpPr/>
          <p:nvPr/>
        </p:nvGrpSpPr>
        <p:grpSpPr>
          <a:xfrm>
            <a:off x="185775" y="2914049"/>
            <a:ext cx="2059882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736271F-B197-F4C9-3A70-57C7D55F36D6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995BE8EC-9A34-3037-BE5E-829A949164D2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AFAE985-6EE5-D3AB-C84A-B99E19C88DB8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5911D356-A66B-067D-26E3-C5C8F3B1C32D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6CA47D5D-E67C-F04B-5AD3-F897CAC5CE96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9DF1C53D-F093-E282-BF74-369704064787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F1D7ED97-BE6E-37F7-E13E-99F557CF82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C3F4ED-B8AF-C70D-62C8-383522F0AEAF}"/>
              </a:ext>
            </a:extLst>
          </p:cNvPr>
          <p:cNvSpPr txBox="1"/>
          <p:nvPr/>
        </p:nvSpPr>
        <p:spPr>
          <a:xfrm>
            <a:off x="375775" y="3200728"/>
            <a:ext cx="1861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India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61D06A-3F2C-F08F-60DF-84F9E031DD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2933" y="3158402"/>
            <a:ext cx="12991481" cy="682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742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C7B4A-E943-F8D7-0FEB-E01306557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1663C5-BA16-67C0-B9D8-0A2A676635F3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CD0CD35-B858-111A-1BE7-E97293B6A796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4004295-9EF9-9BEC-DABE-105DED752D7E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B0F819E-EFA4-D23F-DD40-6A115B45D87E}"/>
              </a:ext>
            </a:extLst>
          </p:cNvPr>
          <p:cNvGrpSpPr/>
          <p:nvPr/>
        </p:nvGrpSpPr>
        <p:grpSpPr>
          <a:xfrm>
            <a:off x="185775" y="2914049"/>
            <a:ext cx="2059882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D5A28CF-CF3F-1A67-B6A5-53743D868EE3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6B24F810-143D-3DB7-170F-0A4D4DB02184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5F650E8-FCB0-FA0A-9EEB-7BD071CDFE90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3B315E47-58EC-E3B6-EEEE-F9CCB3383B1E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44879308-F9FC-60DC-4F72-F0D76B102A71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D7285989-69E2-073D-093D-5DDEA4E445EF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13E33ED1-E966-04F7-F56D-06D79F9CF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82925E-959C-8AB8-613D-F65AEA6ECC0F}"/>
              </a:ext>
            </a:extLst>
          </p:cNvPr>
          <p:cNvSpPr txBox="1"/>
          <p:nvPr/>
        </p:nvSpPr>
        <p:spPr>
          <a:xfrm>
            <a:off x="375775" y="3200728"/>
            <a:ext cx="1861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India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E4190-B99D-9250-3CA5-71988F19F3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6886" y="3037711"/>
            <a:ext cx="13286988" cy="698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35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EB5A4-CF7E-D948-29C5-FD846CFF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FA58C6-D085-6E4D-AA2A-D626DD300419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325BAC4-B67D-A6E7-7424-7FC7FD0C71B4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E41C339-FFC9-0178-0AFF-3ADFDA285B87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5721957-46B5-100E-EB71-9B818120CB81}"/>
              </a:ext>
            </a:extLst>
          </p:cNvPr>
          <p:cNvGrpSpPr/>
          <p:nvPr/>
        </p:nvGrpSpPr>
        <p:grpSpPr>
          <a:xfrm>
            <a:off x="185775" y="2914049"/>
            <a:ext cx="2059882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B40877F-D9F6-8823-1490-CF78BABFBCC6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60DE3822-9B67-2432-C8FE-BB352F82178F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C3E82D4-900C-A9BA-E853-92F146DAA01E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6A359396-3B21-FE1C-92BE-3B05F1041CA5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632B6A4F-803E-8130-9EF1-747CEE2AFC08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0FAED1ED-99D5-5286-95C3-60BEB46E2385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4016E7F4-5B09-9EF6-B4F9-83097B9318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2AA061-0099-D659-CA8D-DA58B1E30A46}"/>
              </a:ext>
            </a:extLst>
          </p:cNvPr>
          <p:cNvSpPr txBox="1"/>
          <p:nvPr/>
        </p:nvSpPr>
        <p:spPr>
          <a:xfrm>
            <a:off x="375775" y="3200728"/>
            <a:ext cx="1861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India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87A2EE-8EC5-2FD1-49C0-378996AA2F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3602" y="3124020"/>
            <a:ext cx="12880543" cy="676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58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82DE5-90DA-0B71-BDAB-9B79D16A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8E1BC5-8304-21FA-5D72-BD9ECAB92528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328D042-070F-F963-CD70-28F4E2F59E11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A96883F-007A-C636-F410-EFF7BFB8794E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353B26A-9FE8-357E-EAF9-DFA9D0865704}"/>
              </a:ext>
            </a:extLst>
          </p:cNvPr>
          <p:cNvGrpSpPr/>
          <p:nvPr/>
        </p:nvGrpSpPr>
        <p:grpSpPr>
          <a:xfrm>
            <a:off x="185775" y="2914049"/>
            <a:ext cx="2763753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2DA4990-D404-013E-590F-B8B35CD70E65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A6EF8F79-FF20-80DE-F1BF-1BBDCCE7234A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FA42FED-6486-9507-CE91-4F888E50324E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445CF65A-5BCC-8A78-4794-E71C026BE44A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27E3725D-445E-7606-560B-8E99F58BBC31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70769EC0-D498-63F4-5352-F682B36AE812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CE531512-FBBD-9047-F22C-CA37EC32B9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CF938A-FDD8-5A66-1F86-8557AA1CE29B}"/>
              </a:ext>
            </a:extLst>
          </p:cNvPr>
          <p:cNvSpPr txBox="1"/>
          <p:nvPr/>
        </p:nvSpPr>
        <p:spPr>
          <a:xfrm>
            <a:off x="264982" y="3200726"/>
            <a:ext cx="266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Ukraine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954E31-C185-05F3-B462-78F21BF2CC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4032" y="3280350"/>
            <a:ext cx="12362482" cy="64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7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50E8C-5852-2479-72E3-4DBBF604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93C3CB-0AA9-3E4D-FAB4-B1980A652AC9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B751D33-C327-CC58-A9A6-05F522940B7B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9B36A99-39E5-63CC-E846-C9E42C88A720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032FA64-6B44-5D72-3924-7AA0BB07625E}"/>
              </a:ext>
            </a:extLst>
          </p:cNvPr>
          <p:cNvGrpSpPr/>
          <p:nvPr/>
        </p:nvGrpSpPr>
        <p:grpSpPr>
          <a:xfrm>
            <a:off x="185775" y="2914049"/>
            <a:ext cx="2763753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145B88B-1D09-4424-A97A-1385B8219ABD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EF0C1C2B-4005-30EB-30F9-E2C13A4376A6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C24741B-6740-0C7E-B070-7AEFFB843152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03E38DB1-65A5-4586-30CF-841F972B13F9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7C91C4AE-E692-CB7E-586A-742E038DEEBC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79D29D01-7A79-7EFE-0EED-E14247235A55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C4F9BE91-59BB-55F9-C7ED-5DCF7DA5AF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1CB9C3-D1E0-F3CD-7124-B376D800A39D}"/>
              </a:ext>
            </a:extLst>
          </p:cNvPr>
          <p:cNvSpPr txBox="1"/>
          <p:nvPr/>
        </p:nvSpPr>
        <p:spPr>
          <a:xfrm>
            <a:off x="264982" y="3200726"/>
            <a:ext cx="266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Ukraine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B5AAA-3B22-DF4C-28B2-7CEFED7C57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5661" y="3017695"/>
            <a:ext cx="13206538" cy="694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948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81467-2AB9-887D-45F2-EE14CFE5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3152EF-F258-64AF-31D8-F36DDA9CFB5B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00C5AC6-9592-FA51-B11F-C65E04BFF75B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2C87DB1-BDF5-B73E-7739-147132A829C3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C880A98-F7F8-BFA8-D755-362F31FA5FE6}"/>
              </a:ext>
            </a:extLst>
          </p:cNvPr>
          <p:cNvGrpSpPr/>
          <p:nvPr/>
        </p:nvGrpSpPr>
        <p:grpSpPr>
          <a:xfrm>
            <a:off x="185775" y="2914049"/>
            <a:ext cx="2763753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5D5F2A6-B8D5-3D68-246E-4B91BA0ABE1D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A15A042F-5632-D7A9-D0A4-761165AC2BE4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9784D8-DFDA-8705-E44D-1116EB4403B5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537E78F7-6E79-5531-F3D8-8DF518B4C69C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555B4B0A-A7C0-C30C-0953-A097F1C63E13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1214A9A6-7DCE-30AE-DB92-9E1B1CD53B0A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3B163EF7-5B85-F867-BBF1-827DE97A9B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54E250-5903-F9FB-DA83-12138151F686}"/>
              </a:ext>
            </a:extLst>
          </p:cNvPr>
          <p:cNvSpPr txBox="1"/>
          <p:nvPr/>
        </p:nvSpPr>
        <p:spPr>
          <a:xfrm>
            <a:off x="264982" y="3200726"/>
            <a:ext cx="266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Ukraine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DC695B-E062-7944-AA1D-656C896C0C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8906" y="3200726"/>
            <a:ext cx="12976791" cy="681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858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EC98-7766-B0F6-BA63-8B5E80F6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3105C2-BEDD-E2E5-1122-19366DFCB554}"/>
              </a:ext>
            </a:extLst>
          </p:cNvPr>
          <p:cNvSpPr/>
          <p:nvPr/>
        </p:nvSpPr>
        <p:spPr>
          <a:xfrm>
            <a:off x="22274" y="-313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6B20F55-7E7C-D99D-A57F-4B20B2A188AC}"/>
              </a:ext>
            </a:extLst>
          </p:cNvPr>
          <p:cNvGrpSpPr/>
          <p:nvPr/>
        </p:nvGrpSpPr>
        <p:grpSpPr>
          <a:xfrm>
            <a:off x="905494" y="509908"/>
            <a:ext cx="16445245" cy="1906519"/>
            <a:chOff x="0" y="0"/>
            <a:chExt cx="5999270" cy="69550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2E601DF-45EB-20C0-CCA5-E86028584A2A}"/>
                </a:ext>
              </a:extLst>
            </p:cNvPr>
            <p:cNvSpPr/>
            <p:nvPr/>
          </p:nvSpPr>
          <p:spPr>
            <a:xfrm>
              <a:off x="0" y="0"/>
              <a:ext cx="5999270" cy="695503"/>
            </a:xfrm>
            <a:custGeom>
              <a:avLst/>
              <a:gdLst/>
              <a:ahLst/>
              <a:cxnLst/>
              <a:rect l="l" t="t" r="r" b="b"/>
              <a:pathLst>
                <a:path w="5999270" h="695503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C66E48F-D240-DDB2-093E-9FA7593E292B}"/>
              </a:ext>
            </a:extLst>
          </p:cNvPr>
          <p:cNvGrpSpPr/>
          <p:nvPr/>
        </p:nvGrpSpPr>
        <p:grpSpPr>
          <a:xfrm>
            <a:off x="185775" y="2914049"/>
            <a:ext cx="2763753" cy="1589019"/>
            <a:chOff x="0" y="0"/>
            <a:chExt cx="694491" cy="57967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5369B3B-91EC-0BB5-7699-821AC89BFDE5}"/>
                </a:ext>
              </a:extLst>
            </p:cNvPr>
            <p:cNvSpPr/>
            <p:nvPr/>
          </p:nvSpPr>
          <p:spPr>
            <a:xfrm>
              <a:off x="0" y="0"/>
              <a:ext cx="694491" cy="579678"/>
            </a:xfrm>
            <a:custGeom>
              <a:avLst/>
              <a:gdLst/>
              <a:ahLst/>
              <a:cxnLst/>
              <a:rect l="l" t="t" r="r" b="b"/>
              <a:pathLst>
                <a:path w="694491" h="579678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C919E772-55B0-CB30-6BEE-83E45B85C3EB}"/>
              </a:ext>
            </a:extLst>
          </p:cNvPr>
          <p:cNvSpPr/>
          <p:nvPr/>
        </p:nvSpPr>
        <p:spPr>
          <a:xfrm flipH="1">
            <a:off x="15697200" y="3708558"/>
            <a:ext cx="4405713" cy="7525286"/>
          </a:xfrm>
          <a:custGeom>
            <a:avLst/>
            <a:gdLst/>
            <a:ahLst/>
            <a:cxnLst/>
            <a:rect l="l" t="t" r="r" b="b"/>
            <a:pathLst>
              <a:path w="4405713" h="7525286">
                <a:moveTo>
                  <a:pt x="4405713" y="0"/>
                </a:moveTo>
                <a:lnTo>
                  <a:pt x="0" y="0"/>
                </a:lnTo>
                <a:lnTo>
                  <a:pt x="0" y="7525287"/>
                </a:lnTo>
                <a:lnTo>
                  <a:pt x="4405713" y="7525287"/>
                </a:lnTo>
                <a:lnTo>
                  <a:pt x="44057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B954391-DAD2-B4DD-118B-241D65DF95A4}"/>
              </a:ext>
            </a:extLst>
          </p:cNvPr>
          <p:cNvSpPr txBox="1"/>
          <p:nvPr/>
        </p:nvSpPr>
        <p:spPr>
          <a:xfrm>
            <a:off x="2245657" y="657204"/>
            <a:ext cx="137649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 Model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608AF651-2CE7-814E-9ECC-46825B538901}"/>
              </a:ext>
            </a:extLst>
          </p:cNvPr>
          <p:cNvSpPr/>
          <p:nvPr/>
        </p:nvSpPr>
        <p:spPr>
          <a:xfrm>
            <a:off x="-1276562" y="-156776"/>
            <a:ext cx="6732164" cy="1627960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37B4380E-6A3B-4CC7-0BE3-A1810EB84611}"/>
              </a:ext>
            </a:extLst>
          </p:cNvPr>
          <p:cNvSpPr/>
          <p:nvPr/>
        </p:nvSpPr>
        <p:spPr>
          <a:xfrm>
            <a:off x="463879" y="-156776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3B8791A0-8CAB-053A-84E4-4C7868279BFE}"/>
              </a:ext>
            </a:extLst>
          </p:cNvPr>
          <p:cNvSpPr/>
          <p:nvPr/>
        </p:nvSpPr>
        <p:spPr>
          <a:xfrm>
            <a:off x="14011526" y="8735435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4C0CEB85-DAEB-8B48-163F-5B913FC67F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13874" y="49597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0CE907-20BF-25E4-2040-EFFABA2DABDF}"/>
              </a:ext>
            </a:extLst>
          </p:cNvPr>
          <p:cNvSpPr txBox="1"/>
          <p:nvPr/>
        </p:nvSpPr>
        <p:spPr>
          <a:xfrm>
            <a:off x="264982" y="3200726"/>
            <a:ext cx="266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Ukraine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6A4B1-0340-77D9-4420-62C78D9E32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3106541"/>
            <a:ext cx="13106400" cy="688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189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05495" y="3104006"/>
            <a:ext cx="8045761" cy="5937078"/>
            <a:chOff x="0" y="0"/>
            <a:chExt cx="2935115" cy="15948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35115" cy="1594803"/>
            </a:xfrm>
            <a:custGeom>
              <a:avLst/>
              <a:gdLst/>
              <a:ahLst/>
              <a:cxnLst/>
              <a:rect l="l" t="t" r="r" b="b"/>
              <a:pathLst>
                <a:path w="2935115" h="1594803">
                  <a:moveTo>
                    <a:pt x="0" y="0"/>
                  </a:moveTo>
                  <a:lnTo>
                    <a:pt x="2935115" y="0"/>
                  </a:lnTo>
                  <a:lnTo>
                    <a:pt x="2935115" y="1594803"/>
                  </a:lnTo>
                  <a:lnTo>
                    <a:pt x="0" y="15948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95400" y="995853"/>
            <a:ext cx="6934200" cy="1520297"/>
            <a:chOff x="0" y="0"/>
            <a:chExt cx="2935115" cy="10459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35115" cy="1045982"/>
            </a:xfrm>
            <a:custGeom>
              <a:avLst/>
              <a:gdLst/>
              <a:ahLst/>
              <a:cxnLst/>
              <a:rect l="l" t="t" r="r" b="b"/>
              <a:pathLst>
                <a:path w="2935115" h="1045982">
                  <a:moveTo>
                    <a:pt x="0" y="0"/>
                  </a:moveTo>
                  <a:lnTo>
                    <a:pt x="2935115" y="0"/>
                  </a:lnTo>
                  <a:lnTo>
                    <a:pt x="2935115" y="1045982"/>
                  </a:lnTo>
                  <a:lnTo>
                    <a:pt x="0" y="10459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052400" y="1447593"/>
            <a:ext cx="5751949" cy="820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Metric of Model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423" y="3250016"/>
            <a:ext cx="7237553" cy="4451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89" lvl="1" algn="l">
              <a:lnSpc>
                <a:spcPts val="2859"/>
              </a:lnSpc>
            </a:pPr>
            <a:r>
              <a:rPr lang="en-US" sz="2400" b="1" dirty="0"/>
              <a:t>1. MAPE (Mean Absolute Percentage Error)</a:t>
            </a:r>
            <a:br>
              <a:rPr lang="en-US" sz="2400" dirty="0"/>
            </a:br>
            <a:r>
              <a:rPr lang="en-US" sz="2400" dirty="0"/>
              <a:t>→ shows the average percentage difference between the predicted and actual values.</a:t>
            </a:r>
            <a:br>
              <a:rPr lang="en-US" sz="2400" dirty="0"/>
            </a:br>
            <a:r>
              <a:rPr lang="en-US" sz="2400" dirty="0"/>
              <a:t>→ lower is better.</a:t>
            </a:r>
          </a:p>
          <a:p>
            <a:pPr marL="474979" lvl="1" indent="-237490" algn="l">
              <a:lnSpc>
                <a:spcPts val="2859"/>
              </a:lnSpc>
              <a:buFont typeface="Arial"/>
              <a:buChar char="•"/>
            </a:pPr>
            <a:endParaRPr lang="en-US" sz="2400" dirty="0"/>
          </a:p>
          <a:p>
            <a:pPr marL="474979" lvl="1" indent="-237490" algn="l">
              <a:lnSpc>
                <a:spcPts val="2859"/>
              </a:lnSpc>
              <a:buFont typeface="Arial"/>
              <a:buChar char="•"/>
            </a:pPr>
            <a:endParaRPr lang="en-US" sz="2400" dirty="0"/>
          </a:p>
          <a:p>
            <a:pPr marL="237489" lvl="1" algn="l">
              <a:lnSpc>
                <a:spcPts val="2859"/>
              </a:lnSpc>
            </a:pPr>
            <a:endParaRPr lang="en-US" sz="2400" dirty="0"/>
          </a:p>
          <a:p>
            <a:pPr marL="474979" lvl="1" indent="-237490" algn="l">
              <a:lnSpc>
                <a:spcPts val="2859"/>
              </a:lnSpc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237489" lvl="1" algn="l">
              <a:lnSpc>
                <a:spcPts val="2859"/>
              </a:lnSpc>
            </a:pPr>
            <a:r>
              <a:rPr lang="en-US" sz="2400" b="1" dirty="0"/>
              <a:t>2. RMSE (Root Mean Squared Error)</a:t>
            </a:r>
            <a:br>
              <a:rPr lang="en-US" sz="2400" dirty="0"/>
            </a:br>
            <a:r>
              <a:rPr lang="en-US" sz="2400" dirty="0"/>
              <a:t>→ measures how far predictions are from actual values.</a:t>
            </a:r>
            <a:br>
              <a:rPr lang="en-US" sz="2400" dirty="0"/>
            </a:br>
            <a:r>
              <a:rPr lang="en-US" sz="2400" dirty="0"/>
              <a:t>→ lower RMSE means the model predicts closer to reality.</a:t>
            </a:r>
            <a:endParaRPr lang="en-US" sz="21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587084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75E95E-13D4-89D8-C157-EBF2FA27A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6268" y="4917542"/>
            <a:ext cx="5741063" cy="9445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F303F9-5141-971B-7BC2-8973F01E69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0905" y="7750700"/>
            <a:ext cx="5124446" cy="1193763"/>
          </a:xfrm>
          <a:prstGeom prst="rect">
            <a:avLst/>
          </a:prstGeom>
        </p:spPr>
      </p:pic>
      <p:grpSp>
        <p:nvGrpSpPr>
          <p:cNvPr id="19" name="Group 3">
            <a:extLst>
              <a:ext uri="{FF2B5EF4-FFF2-40B4-BE49-F238E27FC236}">
                <a16:creationId xmlns:a16="http://schemas.microsoft.com/office/drawing/2014/main" id="{9A28A373-DC18-73BB-9C40-C3DCB18FF024}"/>
              </a:ext>
            </a:extLst>
          </p:cNvPr>
          <p:cNvGrpSpPr/>
          <p:nvPr/>
        </p:nvGrpSpPr>
        <p:grpSpPr>
          <a:xfrm>
            <a:off x="9382083" y="3104006"/>
            <a:ext cx="8045761" cy="5937078"/>
            <a:chOff x="0" y="0"/>
            <a:chExt cx="2935115" cy="1594803"/>
          </a:xfrm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3C13C5B6-763C-2FD2-18FC-A9E8BCB756C3}"/>
                </a:ext>
              </a:extLst>
            </p:cNvPr>
            <p:cNvSpPr/>
            <p:nvPr/>
          </p:nvSpPr>
          <p:spPr>
            <a:xfrm>
              <a:off x="0" y="0"/>
              <a:ext cx="2935115" cy="1594803"/>
            </a:xfrm>
            <a:custGeom>
              <a:avLst/>
              <a:gdLst/>
              <a:ahLst/>
              <a:cxnLst/>
              <a:rect l="l" t="t" r="r" b="b"/>
              <a:pathLst>
                <a:path w="2935115" h="1594803">
                  <a:moveTo>
                    <a:pt x="0" y="0"/>
                  </a:moveTo>
                  <a:lnTo>
                    <a:pt x="2935115" y="0"/>
                  </a:lnTo>
                  <a:lnTo>
                    <a:pt x="2935115" y="1594803"/>
                  </a:lnTo>
                  <a:lnTo>
                    <a:pt x="0" y="15948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CE674AF8-425E-C58A-44BC-06E4122D13E2}"/>
              </a:ext>
            </a:extLst>
          </p:cNvPr>
          <p:cNvGrpSpPr/>
          <p:nvPr/>
        </p:nvGrpSpPr>
        <p:grpSpPr>
          <a:xfrm>
            <a:off x="9771988" y="995853"/>
            <a:ext cx="6934200" cy="1520297"/>
            <a:chOff x="0" y="0"/>
            <a:chExt cx="2935115" cy="1045982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D1121A3-1242-1398-85CF-900B084006C6}"/>
                </a:ext>
              </a:extLst>
            </p:cNvPr>
            <p:cNvSpPr/>
            <p:nvPr/>
          </p:nvSpPr>
          <p:spPr>
            <a:xfrm>
              <a:off x="0" y="0"/>
              <a:ext cx="2935115" cy="1045982"/>
            </a:xfrm>
            <a:custGeom>
              <a:avLst/>
              <a:gdLst/>
              <a:ahLst/>
              <a:cxnLst/>
              <a:rect l="l" t="t" r="r" b="b"/>
              <a:pathLst>
                <a:path w="2935115" h="1045982">
                  <a:moveTo>
                    <a:pt x="0" y="0"/>
                  </a:moveTo>
                  <a:lnTo>
                    <a:pt x="2935115" y="0"/>
                  </a:lnTo>
                  <a:lnTo>
                    <a:pt x="2935115" y="1045982"/>
                  </a:lnTo>
                  <a:lnTo>
                    <a:pt x="0" y="10459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TextBox 9">
            <a:extLst>
              <a:ext uri="{FF2B5EF4-FFF2-40B4-BE49-F238E27FC236}">
                <a16:creationId xmlns:a16="http://schemas.microsoft.com/office/drawing/2014/main" id="{029E99F3-3660-951E-8BB4-36010BC930AF}"/>
              </a:ext>
            </a:extLst>
          </p:cNvPr>
          <p:cNvSpPr txBox="1"/>
          <p:nvPr/>
        </p:nvSpPr>
        <p:spPr>
          <a:xfrm>
            <a:off x="10528988" y="1447593"/>
            <a:ext cx="5751949" cy="820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Result of Model</a:t>
            </a:r>
          </a:p>
        </p:txBody>
      </p:sp>
      <p:sp>
        <p:nvSpPr>
          <p:cNvPr id="25" name="Freeform 14">
            <a:extLst>
              <a:ext uri="{FF2B5EF4-FFF2-40B4-BE49-F238E27FC236}">
                <a16:creationId xmlns:a16="http://schemas.microsoft.com/office/drawing/2014/main" id="{6DBBAD2E-B187-2F13-E191-3C6DCB95A3FC}"/>
              </a:ext>
            </a:extLst>
          </p:cNvPr>
          <p:cNvSpPr/>
          <p:nvPr/>
        </p:nvSpPr>
        <p:spPr>
          <a:xfrm>
            <a:off x="17471676" y="4917541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3D5ABC9-897C-5C59-C1A9-8F276BC71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916644"/>
              </p:ext>
            </p:extLst>
          </p:nvPr>
        </p:nvGraphicFramePr>
        <p:xfrm>
          <a:off x="10361031" y="3548988"/>
          <a:ext cx="6338808" cy="2410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6468">
                  <a:extLst>
                    <a:ext uri="{9D8B030D-6E8A-4147-A177-3AD203B41FA5}">
                      <a16:colId xmlns:a16="http://schemas.microsoft.com/office/drawing/2014/main" val="1703647418"/>
                    </a:ext>
                  </a:extLst>
                </a:gridCol>
                <a:gridCol w="1056468">
                  <a:extLst>
                    <a:ext uri="{9D8B030D-6E8A-4147-A177-3AD203B41FA5}">
                      <a16:colId xmlns:a16="http://schemas.microsoft.com/office/drawing/2014/main" val="3734580104"/>
                    </a:ext>
                  </a:extLst>
                </a:gridCol>
                <a:gridCol w="1056468">
                  <a:extLst>
                    <a:ext uri="{9D8B030D-6E8A-4147-A177-3AD203B41FA5}">
                      <a16:colId xmlns:a16="http://schemas.microsoft.com/office/drawing/2014/main" val="1040749141"/>
                    </a:ext>
                  </a:extLst>
                </a:gridCol>
                <a:gridCol w="1056468">
                  <a:extLst>
                    <a:ext uri="{9D8B030D-6E8A-4147-A177-3AD203B41FA5}">
                      <a16:colId xmlns:a16="http://schemas.microsoft.com/office/drawing/2014/main" val="2466509755"/>
                    </a:ext>
                  </a:extLst>
                </a:gridCol>
                <a:gridCol w="1056468">
                  <a:extLst>
                    <a:ext uri="{9D8B030D-6E8A-4147-A177-3AD203B41FA5}">
                      <a16:colId xmlns:a16="http://schemas.microsoft.com/office/drawing/2014/main" val="1066140633"/>
                    </a:ext>
                  </a:extLst>
                </a:gridCol>
                <a:gridCol w="1056468">
                  <a:extLst>
                    <a:ext uri="{9D8B030D-6E8A-4147-A177-3AD203B41FA5}">
                      <a16:colId xmlns:a16="http://schemas.microsoft.com/office/drawing/2014/main" val="1424731594"/>
                    </a:ext>
                  </a:extLst>
                </a:gridCol>
              </a:tblGrid>
              <a:tr h="1106168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ASEAN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Japan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Korea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834144"/>
                  </a:ext>
                </a:extLst>
              </a:tr>
              <a:tr h="634559">
                <a:tc>
                  <a:txBody>
                    <a:bodyPr/>
                    <a:lstStyle/>
                    <a:p>
                      <a:r>
                        <a:rPr lang="en-US" b="1" dirty="0"/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8.8 %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16.48 %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6.05 %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31.31 %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4.88 %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666682"/>
                  </a:ext>
                </a:extLst>
              </a:tr>
              <a:tr h="670185">
                <a:tc>
                  <a:txBody>
                    <a:bodyPr/>
                    <a:lstStyle/>
                    <a:p>
                      <a:r>
                        <a:rPr lang="en-US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126768.6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834600.5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101389.2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621258.3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295817.6 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97705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CFF6A39-C60E-742B-F761-95D089021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594851"/>
              </p:ext>
            </p:extLst>
          </p:nvPr>
        </p:nvGraphicFramePr>
        <p:xfrm>
          <a:off x="10668000" y="6340392"/>
          <a:ext cx="5724870" cy="2410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2018">
                  <a:extLst>
                    <a:ext uri="{9D8B030D-6E8A-4147-A177-3AD203B41FA5}">
                      <a16:colId xmlns:a16="http://schemas.microsoft.com/office/drawing/2014/main" val="1948755463"/>
                    </a:ext>
                  </a:extLst>
                </a:gridCol>
                <a:gridCol w="1062018">
                  <a:extLst>
                    <a:ext uri="{9D8B030D-6E8A-4147-A177-3AD203B41FA5}">
                      <a16:colId xmlns:a16="http://schemas.microsoft.com/office/drawing/2014/main" val="3734580104"/>
                    </a:ext>
                  </a:extLst>
                </a:gridCol>
                <a:gridCol w="1200278">
                  <a:extLst>
                    <a:ext uri="{9D8B030D-6E8A-4147-A177-3AD203B41FA5}">
                      <a16:colId xmlns:a16="http://schemas.microsoft.com/office/drawing/2014/main" val="1040749141"/>
                    </a:ext>
                  </a:extLst>
                </a:gridCol>
                <a:gridCol w="1200278">
                  <a:extLst>
                    <a:ext uri="{9D8B030D-6E8A-4147-A177-3AD203B41FA5}">
                      <a16:colId xmlns:a16="http://schemas.microsoft.com/office/drawing/2014/main" val="2466509755"/>
                    </a:ext>
                  </a:extLst>
                </a:gridCol>
                <a:gridCol w="1200278">
                  <a:extLst>
                    <a:ext uri="{9D8B030D-6E8A-4147-A177-3AD203B41FA5}">
                      <a16:colId xmlns:a16="http://schemas.microsoft.com/office/drawing/2014/main" val="1066140633"/>
                    </a:ext>
                  </a:extLst>
                </a:gridCol>
              </a:tblGrid>
              <a:tr h="1122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China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Ukraine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834144"/>
                  </a:ext>
                </a:extLst>
              </a:tr>
              <a:tr h="644076">
                <a:tc>
                  <a:txBody>
                    <a:bodyPr/>
                    <a:lstStyle/>
                    <a:p>
                      <a:r>
                        <a:rPr lang="en-US" b="1" dirty="0"/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11.57 %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7.85 %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16.08 %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549.81 %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666682"/>
                  </a:ext>
                </a:extLst>
              </a:tr>
              <a:tr h="644076">
                <a:tc>
                  <a:txBody>
                    <a:bodyPr/>
                    <a:lstStyle/>
                    <a:p>
                      <a:r>
                        <a:rPr lang="en-US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76605.06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1195641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90225.52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57802.77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9770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47" y="652452"/>
            <a:ext cx="16230506" cy="8982096"/>
            <a:chOff x="0" y="0"/>
            <a:chExt cx="5762066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695693"/>
            </a:xfrm>
            <a:custGeom>
              <a:avLst/>
              <a:gdLst/>
              <a:ahLst/>
              <a:cxnLst/>
              <a:rect l="l" t="t" r="r" b="b"/>
              <a:pathLst>
                <a:path w="5762066" h="695693">
                  <a:moveTo>
                    <a:pt x="0" y="0"/>
                  </a:moveTo>
                  <a:lnTo>
                    <a:pt x="5762066" y="0"/>
                  </a:lnTo>
                  <a:lnTo>
                    <a:pt x="5762066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5410200" y="3677714"/>
            <a:ext cx="7467600" cy="2931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15000" b="1" dirty="0">
                <a:solidFill>
                  <a:srgbClr val="003EA8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1EA675B2-F424-53E7-CEF6-C3B4BC612709}"/>
              </a:ext>
            </a:extLst>
          </p:cNvPr>
          <p:cNvSpPr/>
          <p:nvPr/>
        </p:nvSpPr>
        <p:spPr>
          <a:xfrm rot="-10800000">
            <a:off x="1676400" y="7124700"/>
            <a:ext cx="4876557" cy="1728961"/>
          </a:xfrm>
          <a:custGeom>
            <a:avLst/>
            <a:gdLst/>
            <a:ahLst/>
            <a:cxnLst/>
            <a:rect l="l" t="t" r="r" b="b"/>
            <a:pathLst>
              <a:path w="4876557" h="1728961">
                <a:moveTo>
                  <a:pt x="0" y="0"/>
                </a:moveTo>
                <a:lnTo>
                  <a:pt x="4876557" y="0"/>
                </a:lnTo>
                <a:lnTo>
                  <a:pt x="4876557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F39448B0-507E-D65E-D2A0-168325A0B5B7}"/>
              </a:ext>
            </a:extLst>
          </p:cNvPr>
          <p:cNvSpPr/>
          <p:nvPr/>
        </p:nvSpPr>
        <p:spPr>
          <a:xfrm rot="14577172">
            <a:off x="14680398" y="747729"/>
            <a:ext cx="4876557" cy="1728961"/>
          </a:xfrm>
          <a:custGeom>
            <a:avLst/>
            <a:gdLst/>
            <a:ahLst/>
            <a:cxnLst/>
            <a:rect l="l" t="t" r="r" b="b"/>
            <a:pathLst>
              <a:path w="4876557" h="1728961">
                <a:moveTo>
                  <a:pt x="0" y="0"/>
                </a:moveTo>
                <a:lnTo>
                  <a:pt x="4876557" y="0"/>
                </a:lnTo>
                <a:lnTo>
                  <a:pt x="4876557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38">
            <a:extLst>
              <a:ext uri="{FF2B5EF4-FFF2-40B4-BE49-F238E27FC236}">
                <a16:creationId xmlns:a16="http://schemas.microsoft.com/office/drawing/2014/main" id="{4F08E3E9-5EE7-F382-1015-F70C17A82266}"/>
              </a:ext>
            </a:extLst>
          </p:cNvPr>
          <p:cNvSpPr/>
          <p:nvPr/>
        </p:nvSpPr>
        <p:spPr>
          <a:xfrm rot="20417394">
            <a:off x="13481715" y="8526067"/>
            <a:ext cx="7273921" cy="1837895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38">
            <a:extLst>
              <a:ext uri="{FF2B5EF4-FFF2-40B4-BE49-F238E27FC236}">
                <a16:creationId xmlns:a16="http://schemas.microsoft.com/office/drawing/2014/main" id="{39689A27-7117-E50B-09CD-8E5279E5BA25}"/>
              </a:ext>
            </a:extLst>
          </p:cNvPr>
          <p:cNvSpPr/>
          <p:nvPr/>
        </p:nvSpPr>
        <p:spPr>
          <a:xfrm rot="20417394">
            <a:off x="-1703889" y="692424"/>
            <a:ext cx="7273921" cy="1837895"/>
          </a:xfrm>
          <a:custGeom>
            <a:avLst/>
            <a:gdLst/>
            <a:ahLst/>
            <a:cxnLst/>
            <a:rect l="l" t="t" r="r" b="b"/>
            <a:pathLst>
              <a:path w="6732164" h="1627960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1546</Words>
  <Application>Microsoft Office PowerPoint</Application>
  <PresentationFormat>Custom</PresentationFormat>
  <Paragraphs>295</Paragraphs>
  <Slides>48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Telegraf Bold</vt:lpstr>
      <vt:lpstr>Cambria Math</vt:lpstr>
      <vt:lpstr>Calibri (Headings)</vt:lpstr>
      <vt:lpstr>Calibri (Heading)</vt:lpstr>
      <vt:lpstr>Aptos</vt:lpstr>
      <vt:lpstr>Telegraf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Plan</dc:title>
  <dc:creator>Trung Xenko</dc:creator>
  <cp:lastModifiedBy>Xenko Trung</cp:lastModifiedBy>
  <cp:revision>5</cp:revision>
  <dcterms:created xsi:type="dcterms:W3CDTF">2006-08-16T00:00:00Z</dcterms:created>
  <dcterms:modified xsi:type="dcterms:W3CDTF">2025-10-21T09:03:13Z</dcterms:modified>
  <dc:identifier>DAG2SCyFhy4</dc:identifier>
</cp:coreProperties>
</file>